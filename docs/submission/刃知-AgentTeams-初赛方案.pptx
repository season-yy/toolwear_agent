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ddfa90aae84afa" /><Relationship Type="http://schemas.openxmlformats.org/officeDocument/2006/relationships/extended-properties" Target="/docProps/app.xml" Id="R0ff2305b1b6d4177" /><Relationship Type="http://schemas.openxmlformats.org/officeDocument/2006/relationships/officeDocument" Target="/ppt/presentation.xml" Id="R22b87cf57f17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6521bb6e814ec3"/>
    <p:sldMasterId xmlns:r="http://schemas.openxmlformats.org/officeDocument/2006/relationships" id="2147483650" r:id="R5a44094251134017"/>
  </p:sldMasterIdLst>
  <p:notesMasterIdLst>
    <p:notesMasterId xmlns:r="http://schemas.openxmlformats.org/officeDocument/2006/relationships" r:id="Rd83a3bcbb35348fe"/>
  </p:notesMasterIdLst>
  <p:sldIdLst>
    <p:sldId xmlns:r="http://schemas.openxmlformats.org/officeDocument/2006/relationships" id="256" r:id="Rc522eb2cee2b4b10"/>
    <p:sldId xmlns:r="http://schemas.openxmlformats.org/officeDocument/2006/relationships" id="257" r:id="Rf96178ae96074393"/>
    <p:sldId xmlns:r="http://schemas.openxmlformats.org/officeDocument/2006/relationships" id="258" r:id="R29ca8e35f2494f71"/>
    <p:sldId xmlns:r="http://schemas.openxmlformats.org/officeDocument/2006/relationships" id="259" r:id="R996407049c4742be"/>
    <p:sldId xmlns:r="http://schemas.openxmlformats.org/officeDocument/2006/relationships" id="260" r:id="Rc7b6e053666946f8"/>
    <p:sldId xmlns:r="http://schemas.openxmlformats.org/officeDocument/2006/relationships" id="261" r:id="R2cea6263330a40d9"/>
    <p:sldId xmlns:r="http://schemas.openxmlformats.org/officeDocument/2006/relationships" id="262" r:id="R4b850bb937e74851"/>
    <p:sldId xmlns:r="http://schemas.openxmlformats.org/officeDocument/2006/relationships" id="263" r:id="Rc91f08ff365f4ddb"/>
    <p:sldId xmlns:r="http://schemas.openxmlformats.org/officeDocument/2006/relationships" id="264" r:id="R3dfd1bba46524e39"/>
    <p:sldId xmlns:r="http://schemas.openxmlformats.org/officeDocument/2006/relationships" id="265" r:id="Rc3a19201c891479f"/>
    <p:sldId xmlns:r="http://schemas.openxmlformats.org/officeDocument/2006/relationships" id="266" r:id="R53eb91e7ddf44119"/>
    <p:sldId xmlns:r="http://schemas.openxmlformats.org/officeDocument/2006/relationships" id="267" r:id="R42ebed8d439b44f2"/>
    <p:sldId xmlns:r="http://schemas.openxmlformats.org/officeDocument/2006/relationships" id="268" r:id="Radc40ef08c88463f"/>
    <p:sldId xmlns:r="http://schemas.openxmlformats.org/officeDocument/2006/relationships" id="269" r:id="Rcc66c2ca61694f66"/>
    <p:sldId xmlns:r="http://schemas.openxmlformats.org/officeDocument/2006/relationships" id="270" r:id="Ref8b7e3125a44885"/>
    <p:sldId xmlns:r="http://schemas.openxmlformats.org/officeDocument/2006/relationships" id="271" r:id="R201909b794d74148"/>
    <p:sldId xmlns:r="http://schemas.openxmlformats.org/officeDocument/2006/relationships" id="272" r:id="R0bbe3a8cdbd0459b"/>
    <p:sldId xmlns:r="http://schemas.openxmlformats.org/officeDocument/2006/relationships" id="273" r:id="Rc450ebf0390c472e"/>
    <p:sldId xmlns:r="http://schemas.openxmlformats.org/officeDocument/2006/relationships" id="274" r:id="Rd31d0648de9044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56c63ea494d42" /><Relationship Type="http://schemas.openxmlformats.org/officeDocument/2006/relationships/slideMaster" Target="/ppt/slideMasters/slideMaster1.xml" Id="R936521bb6e814ec3" /><Relationship Type="http://schemas.openxmlformats.org/officeDocument/2006/relationships/slideMaster" Target="/ppt/slideMasters/slideMaster2.xml" Id="R5a44094251134017" /><Relationship Type="http://schemas.openxmlformats.org/officeDocument/2006/relationships/notesMaster" Target="/ppt/notesMasters/notesMaster1.xml" Id="Rd83a3bcbb35348fe" /><Relationship Type="http://schemas.openxmlformats.org/officeDocument/2006/relationships/presProps" Target="/ppt/presProps.xml" Id="Rb0cc39566ac342eb" /><Relationship Type="http://schemas.openxmlformats.org/officeDocument/2006/relationships/viewProps" Target="/ppt/viewProps.xml" Id="R0af41cd7c7ea4604" /><Relationship Type="http://schemas.openxmlformats.org/officeDocument/2006/relationships/tableStyles" Target="/ppt/tableStyles.xml" Id="Rc47f817aa1ef4ad8" /><Relationship Type="http://schemas.openxmlformats.org/officeDocument/2006/relationships/slide" Target="/ppt/slides/slide1.xml" Id="Rc522eb2cee2b4b10" /><Relationship Type="http://schemas.openxmlformats.org/officeDocument/2006/relationships/slide" Target="/ppt/slides/slide2.xml" Id="Rf96178ae96074393" /><Relationship Type="http://schemas.openxmlformats.org/officeDocument/2006/relationships/slide" Target="/ppt/slides/slide3.xml" Id="R29ca8e35f2494f71" /><Relationship Type="http://schemas.openxmlformats.org/officeDocument/2006/relationships/slide" Target="/ppt/slides/slide4.xml" Id="R996407049c4742be" /><Relationship Type="http://schemas.openxmlformats.org/officeDocument/2006/relationships/slide" Target="/ppt/slides/slide5.xml" Id="Rc7b6e053666946f8" /><Relationship Type="http://schemas.openxmlformats.org/officeDocument/2006/relationships/slide" Target="/ppt/slides/slide6.xml" Id="R2cea6263330a40d9" /><Relationship Type="http://schemas.openxmlformats.org/officeDocument/2006/relationships/slide" Target="/ppt/slides/slide7.xml" Id="R4b850bb937e74851" /><Relationship Type="http://schemas.openxmlformats.org/officeDocument/2006/relationships/slide" Target="/ppt/slides/slide8.xml" Id="Rc91f08ff365f4ddb" /><Relationship Type="http://schemas.openxmlformats.org/officeDocument/2006/relationships/slide" Target="/ppt/slides/slide9.xml" Id="R3dfd1bba46524e39" /><Relationship Type="http://schemas.openxmlformats.org/officeDocument/2006/relationships/slide" Target="/ppt/slides/slide10.xml" Id="Rc3a19201c891479f" /><Relationship Type="http://schemas.openxmlformats.org/officeDocument/2006/relationships/slide" Target="/ppt/slides/slide11.xml" Id="R53eb91e7ddf44119" /><Relationship Type="http://schemas.openxmlformats.org/officeDocument/2006/relationships/slide" Target="/ppt/slides/slide12.xml" Id="R42ebed8d439b44f2" /><Relationship Type="http://schemas.openxmlformats.org/officeDocument/2006/relationships/slide" Target="/ppt/slides/slide13.xml" Id="Radc40ef08c88463f" /><Relationship Type="http://schemas.openxmlformats.org/officeDocument/2006/relationships/slide" Target="/ppt/slides/slide14.xml" Id="Rcc66c2ca61694f66" /><Relationship Type="http://schemas.openxmlformats.org/officeDocument/2006/relationships/slide" Target="/ppt/slides/slide15.xml" Id="Ref8b7e3125a44885" /><Relationship Type="http://schemas.openxmlformats.org/officeDocument/2006/relationships/slide" Target="/ppt/slides/slide16.xml" Id="R201909b794d74148" /><Relationship Type="http://schemas.openxmlformats.org/officeDocument/2006/relationships/slide" Target="/ppt/slides/slide17.xml" Id="R0bbe3a8cdbd0459b" /><Relationship Type="http://schemas.openxmlformats.org/officeDocument/2006/relationships/slide" Target="/ppt/slides/slide18.xml" Id="Rc450ebf0390c472e" /><Relationship Type="http://schemas.openxmlformats.org/officeDocument/2006/relationships/slide" Target="/ppt/slides/slide19.xml" Id="Rd31d0648de9044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e3df81dedd548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d5f1b520b4c86" /><Relationship Type="http://schemas.openxmlformats.org/officeDocument/2006/relationships/notesMaster" Target="/ppt/notesMasters/notesMaster1.xml" Id="Rc2af3b922d33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c588c428604954" /><Relationship Type="http://schemas.openxmlformats.org/officeDocument/2006/relationships/notesMaster" Target="/ppt/notesMasters/notesMaster1.xml" Id="R3068443895c340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ee94b7b17e4034" /><Relationship Type="http://schemas.openxmlformats.org/officeDocument/2006/relationships/notesMaster" Target="/ppt/notesMasters/notesMaster1.xml" Id="Rdc50052c0c6743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975414beaa483f" /><Relationship Type="http://schemas.openxmlformats.org/officeDocument/2006/relationships/notesMaster" Target="/ppt/notesMasters/notesMaster1.xml" Id="Rc4efbbbcf1d3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d9b574af5a4d22" /><Relationship Type="http://schemas.openxmlformats.org/officeDocument/2006/relationships/notesMaster" Target="/ppt/notesMasters/notesMaster1.xml" Id="R94410efa54844d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ff73c112dd41e9" /><Relationship Type="http://schemas.openxmlformats.org/officeDocument/2006/relationships/notesMaster" Target="/ppt/notesMasters/notesMaster1.xml" Id="R2709f4cc5f844f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ff26c13b944d93" /><Relationship Type="http://schemas.openxmlformats.org/officeDocument/2006/relationships/notesMaster" Target="/ppt/notesMasters/notesMaster1.xml" Id="R6fc9e430c3f34f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77fbd24c442ca" /><Relationship Type="http://schemas.openxmlformats.org/officeDocument/2006/relationships/notesMaster" Target="/ppt/notesMasters/notesMaster1.xml" Id="Rd043b34dd7564c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7d6f3865394c9c" /><Relationship Type="http://schemas.openxmlformats.org/officeDocument/2006/relationships/notesMaster" Target="/ppt/notesMasters/notesMaster1.xml" Id="Rea7902301b7445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58966dc50d4f08" /><Relationship Type="http://schemas.openxmlformats.org/officeDocument/2006/relationships/notesMaster" Target="/ppt/notesMasters/notesMaster1.xml" Id="Rd15269df6b434d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186ce4b1d04a14" /><Relationship Type="http://schemas.openxmlformats.org/officeDocument/2006/relationships/notesMaster" Target="/ppt/notesMasters/notesMaster1.xml" Id="Rf70ec97ce65940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59f7d09b6547cb" /><Relationship Type="http://schemas.openxmlformats.org/officeDocument/2006/relationships/notesMaster" Target="/ppt/notesMasters/notesMaster1.xml" Id="R4272d0c6e63547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3e6334d882428e" /><Relationship Type="http://schemas.openxmlformats.org/officeDocument/2006/relationships/notesMaster" Target="/ppt/notesMasters/notesMaster1.xml" Id="R8537c09a06c446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2e8c69a58c4367" /><Relationship Type="http://schemas.openxmlformats.org/officeDocument/2006/relationships/notesMaster" Target="/ppt/notesMasters/notesMaster1.xml" Id="Rb9fdfb3ddb004b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567305a6b24b15" /><Relationship Type="http://schemas.openxmlformats.org/officeDocument/2006/relationships/notesMaster" Target="/ppt/notesMasters/notesMaster1.xml" Id="R94fd62f1c1a84f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efe92e834044bd" /><Relationship Type="http://schemas.openxmlformats.org/officeDocument/2006/relationships/notesMaster" Target="/ppt/notesMasters/notesMaster1.xml" Id="R5224cf3aec6340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645e5484f04250" /><Relationship Type="http://schemas.openxmlformats.org/officeDocument/2006/relationships/notesMaster" Target="/ppt/notesMasters/notesMaster1.xml" Id="R851104e3276c4b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d4b3a77f01452d" /><Relationship Type="http://schemas.openxmlformats.org/officeDocument/2006/relationships/notesMaster" Target="/ppt/notesMasters/notesMaster1.xml" Id="Rea0eb2c34e944f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7e22d3fc224722" /><Relationship Type="http://schemas.openxmlformats.org/officeDocument/2006/relationships/notesMaster" Target="/ppt/notesMasters/notesMaster1.xml" Id="Rd69ec587ccec40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刃知面向机械加工科研人员，把多通道刀具磨损算法研发变成可配置、可审批、可追溯的实验闭环。</a:t>
            </a:r>
            <a:endParaRPr/>
          </a:p>
          <a:p xmlns:a="http://schemas.openxmlformats.org/drawingml/2006/main">
            <a:r>
              <a:t>本方案使用官方 AgentTeams 作为多 Agent 协同底座。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六个卡片对应官方评分关注的场景、协作、Skill、复用、工程进展与真实结果。</a:t>
            </a:r>
            <a:endParaRPr/>
          </a:p>
          <a:p xmlns:a="http://schemas.openxmlformats.org/drawingml/2006/main">
            <a:r>
              <a:t>Macro-F1 和 Evidence 数量来自本轮独立演示实验。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  <a:p xmlns:a="http://schemas.openxmlformats.org/drawingml/2006/main">
            <a:r>
              <a:t>- docs/submission/初赛作品简介.md</a:t>
            </a:r>
            <a:endParaRPr/>
          </a:p>
          <a:p xmlns:a="http://schemas.openxmlformats.org/drawingml/2006/main">
            <a:r>
              <a:t>- experiment-def463e61abd4da1b5f4c84a58878265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目录沿用官方模板的八章结构，章节顺序与评分项对应。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本章回答谁在用、为什么需要，以及为何能迁移到其他工业时序任务。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左图展示新建实验：数据集、刀具、任务、标签阈值、信号通道、滑窗和小样本比例均可配置。</a:t>
            </a:r>
          </a:p>
          <a:p xmlns:a="http://schemas.openxmlformats.org/drawingml/2006/main">
            <a:r>
              <a:t>右图展示数据登记、标签分布、按 cut 分组切分和泄漏审计结果。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docs/assets/demo/01-new-experiment.png</a:t>
            </a:r>
          </a:p>
          <a:p xmlns:a="http://schemas.openxmlformats.org/drawingml/2006/main">
            <a:r>
              <a:t>- docs/assets/demo/03-data-prepared.png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本章说明统一实验台、状态机、训练服务和证据链如何组成端到端方案。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每一步都有明确前置条件、状态迁移和持久化结果。</a:t>
            </a:r>
            <a:endParaRPr/>
          </a:p>
          <a:p xmlns:a="http://schemas.openxmlformats.org/drawingml/2006/main">
            <a:r>
              <a:t>SQLite 保存实验定义、审批、运行、事件、Evidence 和记忆索引，文件系统保存代码、模型、图表和报告。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  <a:p xmlns:a="http://schemas.openxmlformats.org/drawingml/2006/main">
            <a:r>
              <a:t>- docs/assets/demo/02-experiment-defined.png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固定六角色的职责、工具权限和交接输出均已实现并产生真实调用记录。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六个角色：实验主控、数据治理、算法架构、代码训练、评估治理、报告记忆。</a:t>
            </a:r>
            <a:endParaRPr/>
          </a:p>
          <a:p xmlns:a="http://schemas.openxmlformats.org/drawingml/2006/main">
            <a:r>
              <a:t>本次实验共七次结构化 LLM 调用；一次失败被保留并成功恢复，证明输出策略会真实生效。</a:t>
            </a:r>
            <a:endParaRPr/>
          </a:p>
          <a:p xmlns:a="http://schemas.openxmlformats.org/drawingml/2006/main">
            <a:r>
              <a:t>Element 截图显示 Team、Leader、Worker、Skill 调用和心跳证据。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  <a:p xmlns:a="http://schemas.openxmlformats.org/drawingml/2006/main">
            <a:r>
              <a:t>- docs/assets/demo/11-agent-collaboration.png</a:t>
            </a:r>
            <a:endParaRPr/>
          </a:p>
          <a:p xmlns:a="http://schemas.openxmlformats.org/drawingml/2006/main">
            <a:r>
              <a:t>- docs/assets/demo/12-element-agentteams-team.png</a:t>
            </a:r>
            <a:endParaRPr/>
          </a:p>
          <a:p xmlns:a="http://schemas.openxmlformats.org/drawingml/2006/main">
            <a:r>
              <a:t>- docs/evidence/agentteams_e2e_final_manifest.json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自然语言建议只有通过 Registry 与 Tool API 契约才能进入真实执行。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 Skill 覆盖实验定义、数据体检、标签生成、无泄漏切分、候选生成、审批冻结、真实训练、评估诊断、决策归档和报告记忆。</a:t>
            </a:r>
            <a:endParaRPr/>
          </a:p>
          <a:p xmlns:a="http://schemas.openxmlformats.org/drawingml/2006/main">
            <a:r>
              <a:t>当前使用受鉴权 FastAPI Tool API 作为确定性工具契约；后续增加 MCP transport adapter，不改业务 schema。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  <a:p xmlns:a="http://schemas.openxmlformats.org/drawingml/2006/main">
            <a:r>
              <a:t>- docs/skill-manifest.md</a:t>
            </a:r>
            <a:endParaRPr/>
          </a:p>
          <a:p xmlns:a="http://schemas.openxmlformats.org/drawingml/2006/main">
            <a:r>
              <a:t>- toolwear_agent/agents/catalog.py</a:t>
            </a:r>
            <a:endParaRPr/>
          </a:p>
          <a:p xmlns:a="http://schemas.openxmlformats.org/drawingml/2006/main">
            <a:r>
              <a:t>- docs/evidence/agentteams_e2e_final_manifest.json</a:t>
            </a:r>
            <a:endParaRPr/>
          </a:p>
          <a:p xmlns:a="http://schemas.openxmlformats.org/drawingml/2006/main">
            <a:r>
              <a:t>- docs/assets/demo/13-skill-registry-evidence.png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本章展示一次真实运行，而不是静态界面或预填结果。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候选由 qwen3.7-flash-2026-07-15 生成，未使用固定模板回退。</a:t>
            </a:r>
            <a:endParaRPr/>
          </a:p>
          <a:p xmlns:a="http://schemas.openxmlformats.org/drawingml/2006/main">
            <a:r>
              <a:t>选定 statistical_features_random_forest 后真实训练，validation Macro-F1 0.937540，Balanced Accuracy 0.933633。</a:t>
            </a:r>
            <a:endParaRPr/>
          </a:p>
          <a:p xmlns:a="http://schemas.openxmlformats.org/drawingml/2006/main">
            <a:r>
              <a:t>EvaluationGovernorAgent 读取指标、分类报告、混淆矩阵和 t-SNE 后输出诊断。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  <a:p xmlns:a="http://schemas.openxmlformats.org/drawingml/2006/main">
            <a:r>
              <a:t>- docs/assets/demo/04-llm-candidates.png</a:t>
            </a:r>
            <a:endParaRPr/>
          </a:p>
          <a:p xmlns:a="http://schemas.openxmlformats.org/drawingml/2006/main">
            <a:r>
              <a:t>- docs/assets/demo/06-training-result.png</a:t>
            </a:r>
            <a:endParaRPr/>
          </a:p>
          <a:p xmlns:a="http://schemas.openxmlformats.org/drawingml/2006/main">
            <a:r>
              <a:t>- docs/assets/demo/07-evaluation-metrics.png</a:t>
            </a:r>
            <a:endParaRPr/>
          </a:p>
          <a:p xmlns:a="http://schemas.openxmlformats.org/drawingml/2006/main">
            <a:r>
              <a:t>- docs/assets/demo/08-evaluation-diagnosis.png</a:t>
            </a:r>
            <a:endParaRPr/>
          </a:p>
          <a:p xmlns:a="http://schemas.openxmlformats.org/drawingml/2006/main">
            <a:r>
              <a:t>- run-5060d635be9bc80a9cccb7f6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开源范围遵循最小必要原则：开放可复用工程资产，不公开敏感数据和密钥。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 GitHub 仓库采用白名单整理：仅发布代码、依赖、配置示例、README、完整使用说明和必要 AgentTeams 证据。</a:t>
            </a:r>
          </a:p>
          <a:p xmlns:a="http://schemas.openxmlformats.org/drawingml/2006/main">
            <a:r>
              <a:t>原始 PHM2010 数据不随仓库发布，用户通过本地路径登记。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https://github.com/season-yy/ToolWear_agent.git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本章用同一 experiment、trace 与 run 对齐决策、报告和证据。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停止并不表示训练失败，而是小样本 P0 已达到演示目标，继续消耗预算的收益有限。</a:t>
            </a:r>
            <a:endParaRPr/>
          </a:p>
          <a:p xmlns:a="http://schemas.openxmlformats.org/drawingml/2006/main">
            <a:r>
              <a:t>实验归档后仍保留继续调参、替换候选和完整训练的建议。</a:t>
            </a:r>
            <a:endParaRPr/>
          </a:p>
          <a:p xmlns:a="http://schemas.openxmlformats.org/drawingml/2006/main">
            <a:r>
              <a:t>九个状态事件、28 项 Evidence、代码快照、图表和 Markdown 报告均可回溯。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  <a:p xmlns:a="http://schemas.openxmlformats.org/drawingml/2006/main">
            <a:r>
              <a:t>- docs/assets/demo/09-decision-archive.png</a:t>
            </a:r>
            <a:endParaRPr/>
          </a:p>
          <a:p xmlns:a="http://schemas.openxmlformats.org/drawingml/2006/main">
            <a:r>
              <a:t>- docs/assets/demo/10-evidence-timeline.png</a:t>
            </a:r>
            <a:endParaRPr/>
          </a:p>
          <a:p xmlns:a="http://schemas.openxmlformats.org/drawingml/2006/main">
            <a:r>
              <a:t>- trace-fb0fbc1f707642faad890d6796bd963d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最后说明团队领域背景、当前分工和从 P0 走向可落地平台的路线。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P0 只承诺 PHM2010 C1 四阶段分类闭环；跨刀具迁移、VB 回归与企业数据接入属于后续路线。</a:t>
            </a:r>
          </a:p>
          <a:p xmlns:a="http://schemas.openxmlformats.org/drawingml/2006/main">
            <a:r>
              <a:t>团队介绍保持真实，不虚构成员、奖项或单位。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2f8e981f842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5e3f044de2462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8c05b46110406e" /><Relationship Type="http://schemas.openxmlformats.org/officeDocument/2006/relationships/slideLayout" Target="/ppt/slideLayouts/slideLayout1.xml" Id="R2f7973ccb266460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64115ff9b9143c0" /><Relationship Type="http://schemas.openxmlformats.org/officeDocument/2006/relationships/slideLayout" Target="/ppt/slideLayouts/slideLayout2.xml" Id="R475cc53942494a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7973ccb266460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475cc53942494ac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d27e698c14eee" /><Relationship Type="http://schemas.openxmlformats.org/officeDocument/2006/relationships/notesSlide" Target="/ppt/notesSlides/notesSlide1.xml" Id="R90d6c4ec5d0345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060efa394984" /><Relationship Type="http://schemas.openxmlformats.org/officeDocument/2006/relationships/notesSlide" Target="/ppt/notesSlides/notesSlide2.xml" Id="R7931eb8da4c547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07ffb166d44a4" /><Relationship Type="http://schemas.openxmlformats.org/officeDocument/2006/relationships/notesSlide" Target="/ppt/notesSlides/notesSlide3.xml" Id="R4a1999753c3c4c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0c13640274ece" /><Relationship Type="http://schemas.openxmlformats.org/officeDocument/2006/relationships/notesSlide" Target="/ppt/notesSlides/notesSlide4.xml" Id="R862e425be77d4e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b561eb079450f" /><Relationship Type="http://schemas.openxmlformats.org/officeDocument/2006/relationships/image" Target="/ppt/media/image.png" Id="Rdbd287db28fd45cd" /><Relationship Type="http://schemas.openxmlformats.org/officeDocument/2006/relationships/image" Target="/ppt/media/image2.png" Id="R1e6872f55ba54bb2" /><Relationship Type="http://schemas.openxmlformats.org/officeDocument/2006/relationships/notesSlide" Target="/ppt/notesSlides/notesSlide5.xml" Id="R76e31c6ab5ac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71000b7c444632" /><Relationship Type="http://schemas.openxmlformats.org/officeDocument/2006/relationships/notesSlide" Target="/ppt/notesSlides/notesSlide6.xml" Id="R8f1e201def3c40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0c04bf0e24db2" /><Relationship Type="http://schemas.openxmlformats.org/officeDocument/2006/relationships/image" Target="/ppt/media/image3.png" Id="R10c240a63b554b78" /><Relationship Type="http://schemas.openxmlformats.org/officeDocument/2006/relationships/notesSlide" Target="/ppt/notesSlides/notesSlide7.xml" Id="R63ff1248be2f46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719156e0214c1a" /><Relationship Type="http://schemas.openxmlformats.org/officeDocument/2006/relationships/notesSlide" Target="/ppt/notesSlides/notesSlide8.xml" Id="R589a3b71adec46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c2cad0a1a452c" /><Relationship Type="http://schemas.openxmlformats.org/officeDocument/2006/relationships/image" Target="/ppt/media/image4.png" Id="Rbcb5b7666dd34d2b" /><Relationship Type="http://schemas.openxmlformats.org/officeDocument/2006/relationships/image" Target="/ppt/media/image5.png" Id="R63c40153c6fd4191" /><Relationship Type="http://schemas.openxmlformats.org/officeDocument/2006/relationships/notesSlide" Target="/ppt/notesSlides/notesSlide9.xml" Id="Rb967c3f34a0447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13a29fdc4410e" /><Relationship Type="http://schemas.openxmlformats.org/officeDocument/2006/relationships/notesSlide" Target="/ppt/notesSlides/notesSlide10.xml" Id="R19216024a60943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be2a3441245d5" /><Relationship Type="http://schemas.openxmlformats.org/officeDocument/2006/relationships/image" Target="/ppt/media/image6.png" Id="R6865f36a7f0540e4" /><Relationship Type="http://schemas.openxmlformats.org/officeDocument/2006/relationships/notesSlide" Target="/ppt/notesSlides/notesSlide11.xml" Id="R27633c62db9749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7b433739be48b5" /><Relationship Type="http://schemas.openxmlformats.org/officeDocument/2006/relationships/notesSlide" Target="/ppt/notesSlides/notesSlide12.xml" Id="Rcd79846884f847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032841f444a15" /><Relationship Type="http://schemas.openxmlformats.org/officeDocument/2006/relationships/image" Target="/ppt/media/image7.png" Id="Rc76264d036d74658" /><Relationship Type="http://schemas.openxmlformats.org/officeDocument/2006/relationships/image" Target="/ppt/media/image8.png" Id="Rdecdbe1b3f254bf8" /><Relationship Type="http://schemas.openxmlformats.org/officeDocument/2006/relationships/image" Target="/ppt/media/image9.png" Id="R76222fa64f444262" /><Relationship Type="http://schemas.openxmlformats.org/officeDocument/2006/relationships/image" Target="/ppt/media/image10.png" Id="R412d44c3191d48dd" /><Relationship Type="http://schemas.openxmlformats.org/officeDocument/2006/relationships/notesSlide" Target="/ppt/notesSlides/notesSlide13.xml" Id="R54abcb66821147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1d902814c446ab" /><Relationship Type="http://schemas.openxmlformats.org/officeDocument/2006/relationships/notesSlide" Target="/ppt/notesSlides/notesSlide14.xml" Id="R6b0904a292024f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421c15ffb46eb" /><Relationship Type="http://schemas.openxmlformats.org/officeDocument/2006/relationships/notesSlide" Target="/ppt/notesSlides/notesSlide15.xml" Id="R67649daa9a3241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5df7194823497e" /><Relationship Type="http://schemas.openxmlformats.org/officeDocument/2006/relationships/notesSlide" Target="/ppt/notesSlides/notesSlide16.xml" Id="Rf6e1edcbc5bc48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7213ed08f4768" /><Relationship Type="http://schemas.openxmlformats.org/officeDocument/2006/relationships/image" Target="/ppt/media/image11.png" Id="R338013f482784ce4" /><Relationship Type="http://schemas.openxmlformats.org/officeDocument/2006/relationships/image" Target="/ppt/media/image12.png" Id="Rf8d2fa69f9f847c6" /><Relationship Type="http://schemas.openxmlformats.org/officeDocument/2006/relationships/notesSlide" Target="/ppt/notesSlides/notesSlide17.xml" Id="Rf99edd1d389b46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547623ab04d8e" /><Relationship Type="http://schemas.openxmlformats.org/officeDocument/2006/relationships/notesSlide" Target="/ppt/notesSlides/notesSlide18.xml" Id="R982a2891c1a44e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cfb06bf544d26" /><Relationship Type="http://schemas.openxmlformats.org/officeDocument/2006/relationships/notesSlide" Target="/ppt/notesSlides/notesSlide19.xml" Id="Rce8e3266724b46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B51391-BA13-4BCB-B96F-C6941955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D15390-4B5C-4E3B-ABD0-0DDC0EE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027FB1-D126-4E2D-B246-7F1EB69F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6B92C0-4748-49C3-AB0E-9C8BE7EF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2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GOAI世界人工智能开源大赛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EE5DF48-3FFC-4F6B-9A38-54132361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刃知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26DE28A-AA36-48FA-B3FD-6544A89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PHM2010 C1 · 真实闭环演示 · 2026.08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CC45908-1BAB-463E-AF53-560D7F96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2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基于 AgentTeams 的刀具磨损监测算法辅助平台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48761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1DF7BE-9816-480C-A877-703B5696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D6C2BD-3593-42B2-A3AB-0E23F1DF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93C73F0-E9EF-4917-BA90-79C845C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FFB65EF-E29B-4DC5-AF10-6E49441A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4B566A7-C055-41E1-AF4C-6CA34C6B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9D66815-6918-42C7-B14E-934F1D70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面向机械科研人员的算法实验助手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FC1B15-7960-4B73-94F0-5694846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刃知 / AgentTeams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59475A1-C443-45CF-B82E-03F292C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DA72B22-9975-42A3-9436-8A603709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0349E37-4192-467F-A286-DA8F96C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3CD9D6-EE17-4F99-92DB-DEA575FC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多通道模型选择与试错成本高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DF59756-EC2E-4B16-9637-AE5589C5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实验上下文难复用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B89B465-91EF-4492-B35E-C9C5B100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DE7464C-60D1-4B44-BBDF-F584F199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4C2BF13-A3B6-42A0-98E5-0142880B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DB94274-3143-4FE2-B2CE-3095642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六 Agent + 十 Skill + 人工审批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90F7E33-5ECD-4233-BC3A-7942FD36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一条可恢复闭环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14CC239-770A-4D74-9421-5609DD9F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06FADEC-611D-4C5B-93E5-A019F0F8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9C58E27-3922-4558-9D2C-9AFFBE0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5982D7C-DA12-4FE7-B181-D5D9E1A8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LLM 判断，确定性服务计算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F218848-119C-40CA-BBEA-C149C1C7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防泄漏 + 可审计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BBD585D-60E4-441E-BF23-570A4733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5906638-6E8E-49F0-8324-19D7877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20737FE-A274-4651-9BD8-40DE4B2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9C29BB-5F9D-4945-93E3-11F0D734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 / Skill / API 契约可迁移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1CBABE6-7264-4571-B614-62CE0CFD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代码与接口开放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D0195F3-2583-464C-8203-4830AE98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EBCECD7-B9C2-4FB2-92E3-D2641FA0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13C181E-DB96-45D6-8668-90C8958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3F0948D-88B2-484D-8D48-2BA8439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PHM2010 C1 全链路真实跑通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8C46D29-46AC-49B2-99E8-45165738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F1 0.9375 / 28 Evidence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00B428C-7B6D-4B98-986D-DC35B5CF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58984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18F9FA-7841-4F2A-A55D-DFAA91C8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371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15661B0-6D78-4ADC-9A6E-2732EF4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54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6F4C7BA-10B9-4BD8-BDF6-D9FFAA7D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AEDAE0B-D79C-4256-A7E0-B7150EF2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21F3FE-C10C-4E82-8C47-0D5BAC51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D4F297-CE96-433B-8DD1-DF34984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10A4DD-A942-43F0-B699-B5263508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04F25BC-5B82-4060-933C-5B9B9986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D9589A7-2AA9-4A5A-AFFE-0181250B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7020D87-EA2E-4EE0-83CD-74D25DA5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A7C4EE3-4667-476C-95EC-29C67481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工程验证与安全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4EC724-62E1-40A7-A105-9F8915B3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E099F6B-C1AF-4303-9637-27B1ADAC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D99C3F2-D187-408F-B6FC-5E86363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FB42043-865B-400A-B916-CC63DC6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19AA94C-AAF3-440B-8697-BCA3F7A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0681D21-0841-4EBC-9B06-568F17B8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195BD4-2A7B-4706-8FA3-24B625D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2F6D0C9-03B8-47E0-9DF7-15C1D04A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743B205-97B8-4081-8566-D4AA953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76F2978-CD6A-4049-9B62-6CB77DC1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B97B5E8-D426-4EC0-B3E1-2B4C9A15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3A2F43-860C-4D33-AF63-945D22F9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A4E3AA2-AF60-4847-AC2E-BD94F85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8B6A5AA-4732-4467-B7A4-5054E09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43970DB-09CF-4D89-A70C-C263395D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5A3C87F-AD2B-4995-8334-134F7DF9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落地进展与证据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0E859AD-01B7-4188-87A3-B6A7ABDD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5AD7021-CAF6-49F7-B7AB-3B90C781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7BD6BFF-90C7-4999-8EC7-C3325743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1A597E9-08CC-40D0-BEF8-51ECBD0A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1DB3D100-2D03-49E0-8EA5-9559870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4256CD1-9A4B-4E97-ADDE-E6D4FA56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776BA7C-EFCF-4611-A2A5-69E1ED37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07E1E41-A83A-459B-9865-5973AAE0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团队与未来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29628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25B449-C39A-4235-B2CF-9E74FAD4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060949-45DC-428F-9435-4150F094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B1BA78-7EC0-4312-946E-F6455815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AFF5DE-0286-4442-A7E8-D37F3156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30274E-9C31-48B9-BA79-42A93E5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83B5244-3B97-4834-A229-7948668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FC999AD-02EB-4B37-A00D-25C15E0E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F88C639-CCCF-41AE-AD11-CB49E543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024583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5F35C1A-1B90-488E-9B5F-F367170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926860-7EEB-4D7D-8859-C72EF400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让实验判断可复用，而不是反复试模型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24027D5-C4E7-453C-9CFA-A891752C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用户在网页锁定数据、标签、滑窗、抽样和训练目标；系统先完成数据体检与无泄漏切分，再进入候选生成。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287db28fd45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859C1E4-3502-41AD-B783-B29AF19E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真实界面 · 新建实验 / 数据治理</a:t>
            </a:r>
            <a:endParaRPr/>
          </a:p>
        </p:txBody>
      </p:sp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872f55ba5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95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3F0576-405E-4E6A-85E2-83328F8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0C7003-BEF6-4F59-8468-C4B223FB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C98CB7B-4286-4D0A-8C9C-ED314353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42582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E48A7B-766B-427F-AB79-0944E43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端到端闭环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333323-E023-4D92-8C7D-CA55D1FD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一次实验沿七阶段推进，任何一步都能恢复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4123747-094F-4249-BC66-1DC7BB23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C8212A3-C5FF-46A3-A184-C22CDAC4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主控拆解任务 → Agent 按职责执行 → ExperimentState / PipelineSpec / EvidenceRef 传递上下文 → validation 验证 → 失败重试、换方案或停止 → Trace 归档。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4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240a63b554b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29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345AA26-705D-45CC-8A96-09845701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AE83BBF4-3F6F-4829-8B9F-2D6C808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0649813-6F57-4335-B392-68481119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FD5BF5B7-4EC7-4FB4-9862-C550C8FC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9060CBC-9685-424D-8A72-8302693A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BC144FC-3B64-47E5-94C8-D2D0BD8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689E83C9-FEDB-4F56-9B87-6854F0EC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482C574D-1AD9-4620-8783-385F7A1B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50658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003F0A-3AE7-43F1-85B6-6F6DEEF0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AgentTeams 实证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D516B4-4735-4F94-9EBA-152A320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六个 Agent 分工，协作全程留痕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BB4859C-64F9-46A9-9E64-90FA8857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主控拆解任务；Worker 以 experiment、revision、trace 和 EvidenceRef 交接上下文。Registry 输入缺失会被拒绝，补齐后有限重试。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5b7666dd3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40153c6fd41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69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4E1C2E6-9586-4E72-A4F4-72407C59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B54C52-BCEB-453D-B6DB-405D9FD6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80ECEB-8794-4E2C-9014-79C3DAB7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6B3EB3-EDFF-4233-8E13-296DA166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8DD1FA36-6159-4301-98E2-1B561216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7C6F7BB7-D426-4B1C-8F5E-162782E3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  <a:endParaRPr sz="1250"/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7E545340-F5E8-4DA0-BA5E-C6E5A7FF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225490FF-0A3C-491C-8AAA-F5C5D1A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42844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C55A13-8E28-4BBC-BC23-F04D476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E27E13-2F05-4F97-8A28-85A4C97F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十个 Skill 把建议变成有契约的可执行动作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0C7E245-A4A2-41D3-902F-153BFF75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8F646C-D51C-484B-A7A0-4CEEE012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27E1D13-5B31-4B33-8A2D-DEEADC2F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 Skill 都有 Owner、SKILL.md、client.py、输入/输出 JSON Schema、权限白名单、失败处理和 Evidence 审计；下图来自项目真实 Manifest 与脱敏调用记录。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5f36a7f0540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39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3DC4066-38DF-480D-8120-5078DEF7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F1D54C1B-91FA-4DC3-81AF-26C48FEB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015AD580-0FB6-4AB1-AFD5-C9D2C7FB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可行性、异常分支与安全边界均可验证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1BB347B9-DAB6-4A4E-9ECE-66F9C4AD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4D86D83C-EE1F-4FD1-8AC1-77E2A3F6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F1729E22-EF4A-440B-95DA-000DD8E0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4CBE9CB7-F7ED-414B-B794-291C038F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98D73EDB-4779-4BEC-8ED4-17840433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0665056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DCCDD3-A448-49DC-B977-3C8C6788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 · 真实 Demo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61720E-5625-408B-9B67-80769078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一次真实 Demo 已从候选生成跑到专家诊断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3566EA81-3D41-4680-B0AB-F72D4CE4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PHM2010 C1：315 cut，按 cut 隔离 60/20/20；训练集内分层抽取 20%，validation Macro-F1 0.9375，final test 未使用。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6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264d036d7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108200" y="1988820"/>
            <a:ext cx="3830087" cy="2160000"/>
          </a:xfrm>
          <a:prstGeom xmlns:a="http://schemas.openxmlformats.org/drawingml/2006/main" prst="rect">
            <a:avLst/>
          </a:prstGeom>
        </p:spPr>
      </p:pic>
      <p:pic>
        <p:nvPicPr>
          <p:cNvPr id="47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dbe1b3f25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85535" y="1996440"/>
            <a:ext cx="3837275" cy="2160000"/>
          </a:xfrm>
          <a:prstGeom xmlns:a="http://schemas.openxmlformats.org/drawingml/2006/main" prst="rect">
            <a:avLst/>
          </a:prstGeom>
        </p:spPr>
      </p:pic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22fa64f444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108200" y="4288155"/>
            <a:ext cx="3838315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d44c3191d48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85535" y="4303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98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8D98127-4C0B-4190-B62A-9F245D9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580B62-9679-4FC5-BC23-7FF111F0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A2967C-B9A8-4D0D-A526-7831E43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/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4B033404-46B6-4F31-BB09-2DC8C3CE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E6C6A811-7791-4ECE-AEAA-5CE03FF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BC1F985A-2111-4EA8-BB17-54415F8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  <a:endParaRPr sz="1250"/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FF462672-DF1A-4D4D-BF64-A1EC28F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B6061DC6-4A14-407A-AA3F-DECFA8E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809519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B99599-1544-4093-8372-CBACBFBB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424F12-00AC-4721-8A53-9A16C556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7CB56E9-379D-4B07-A8C8-F6C62FD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13840"/>
            <a:ext cx="9534525" cy="507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公开可复用工程资产，不发布敏感数据。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t/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1. 开放范围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六 Agent 身份、Prompt 与协作 schema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十个 Skill、Registry、API 契约与测试；提交包含入口、依赖、配置、样例和证据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indent="0" algn="l">
              <a:lnSpc>
                <a:spcPct val="150000"/>
              </a:lnSpc>
              <a:buClrTx/>
              <a:buSzTx/>
              <a:buFont typeface="Arial"/>
              <a:buNone/>
            </a:pPr>
            <a:r>
              <a:t/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2. 安全边界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不上传 .env、API Key、原始数据、模型权重和本机日志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t>最终测试集默认隔离，第三方依赖明确声明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indent="0" algn="l">
              <a:lnSpc>
                <a:spcPct val="150000"/>
              </a:lnSpc>
              <a:buClrTx/>
              <a:buSzTx/>
              <a:buFont typeface="Arial"/>
              <a:buNone/>
            </a:pPr>
            <a:r>
              <a:rPr>
                <a:latin typeface="微软雅黑"/>
                <a:ea typeface="微软雅黑"/>
                <a:cs typeface="微软雅黑"/>
              </a:rPr>
              <a:t>3. 复用与许可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README 给出完整流程；Adapter 可迁移到轴承、齿轮等时序任务</a:t>
            </a:r>
            <a:endParaRPr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834051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56E2B0D-5C3C-4AA7-8B57-02FD1590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1DE735D-56CA-4E87-A388-983E59F7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当前进展与整体可行性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F7CF2192-0E81-406A-B759-ACB3988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落地进展与证据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587059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C036A8-FC6C-4DE4-9575-54991CDE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当前进展与整体可行性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A1390E-B112-4AD5-92F5-50AFABE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停止决策也有完整证据链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9670D03-D620-4047-B6F4-A0EFE621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616E8D-A73C-43F4-8A3C-3138B74E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EvaluationGovernorAgent 识别约 0.06 过拟合差距与 6.8 类别不平衡；P0 目标达成后停止额外训练，归档 28 项 Evidence。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013f482784c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29640" y="2328545"/>
            <a:ext cx="4911725" cy="2768600"/>
          </a:xfrm>
          <a:prstGeom xmlns:a="http://schemas.openxmlformats.org/drawingml/2006/main" prst="rect">
            <a:avLst/>
          </a:prstGeom>
        </p:spPr>
      </p:pic>
      <p:pic>
        <p:nvPicPr>
          <p:cNvPr id="4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2fa69f9f847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79210" y="2458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255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5727BC9-23AA-4E71-BB59-36345FBA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2C01A154-322E-40E7-AD0E-2776BE5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第八章 · 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E3343F3-BEFF-4CF2-9F04-C5B5109F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团队与未来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228998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B99599-1544-4093-8372-CBACBFBB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第八章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424F12-00AC-4721-8A53-9A16C556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团队与未来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7CB56E9-379D-4B07-A8C8-F6C62FD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13840"/>
            <a:ext cx="9534525" cy="507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机械研究需求驱动，工程结果以代码、测试和 Evidence 为准。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t/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1. 团队背景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机械工程硕士，研究方向：刀具磨损监测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负责领域需求、标签策略、实验解释与现场验证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indent="0" algn="l">
              <a:lnSpc>
                <a:spcPct val="150000"/>
              </a:lnSpc>
              <a:buClrTx/>
              <a:buSzTx/>
              <a:buFont typeface="Arial"/>
              <a:buNone/>
            </a:pPr>
            <a:r>
              <a:t/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2. 落地计划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P1：C1 / C4 / C6 跨刀具泛化、域适配与复赛部署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t>3. 产品化路线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indent="0" algn="l">
              <a:lnSpc>
                <a:spcPct val="150000"/>
              </a:lnSpc>
              <a:buClrTx/>
              <a:buSzTx/>
              <a:buFont typeface="Arial"/>
              <a:buNone/>
            </a:pPr>
            <a:r>
              <a:rPr>
                <a:latin typeface="微软雅黑"/>
                <a:ea typeface="微软雅黑"/>
                <a:cs typeface="微软雅黑"/>
              </a:rPr>
              <a:t>P1.5：VB 回归、注意力和多分支融合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P2：企业数据接入、RAG、观测、回滚、权限治理与 MCP 适配</a:t>
            </a:r>
            <a:endParaRPr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8340518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2026-08-16T07:03:37.0280000Z</dcterms:created>
  <dcterms:modified xsi:type="dcterms:W3CDTF">2026-08-16T07:03:37.0280000Z</dcterms:modified>
</coreProperties>
</file>