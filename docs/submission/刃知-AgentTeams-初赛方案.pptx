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285a4bef894e9d" /><Relationship Type="http://schemas.openxmlformats.org/officeDocument/2006/relationships/extended-properties" Target="/docProps/app.xml" Id="Rbafc6f8673b44173" /><Relationship Type="http://schemas.openxmlformats.org/officeDocument/2006/relationships/officeDocument" Target="/ppt/presentation.xml" Id="R492bb88bb7cf4f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d70e4088414c03"/>
    <p:sldMasterId xmlns:r="http://schemas.openxmlformats.org/officeDocument/2006/relationships" id="2147483650" r:id="R9c338f9a6f6e4d1f"/>
  </p:sldMasterIdLst>
  <p:notesMasterIdLst>
    <p:notesMasterId xmlns:r="http://schemas.openxmlformats.org/officeDocument/2006/relationships" r:id="Rc01b385c0be9472f"/>
  </p:notesMasterIdLst>
  <p:sldIdLst>
    <p:sldId xmlns:r="http://schemas.openxmlformats.org/officeDocument/2006/relationships" id="256" r:id="Rf1e7c5c0dcad48b0"/>
    <p:sldId xmlns:r="http://schemas.openxmlformats.org/officeDocument/2006/relationships" id="257" r:id="Re6d772f8d6aa4f24"/>
    <p:sldId xmlns:r="http://schemas.openxmlformats.org/officeDocument/2006/relationships" id="258" r:id="Rdf9f95cd462a42e5"/>
    <p:sldId xmlns:r="http://schemas.openxmlformats.org/officeDocument/2006/relationships" id="259" r:id="Rce4758f3d47645a1"/>
    <p:sldId xmlns:r="http://schemas.openxmlformats.org/officeDocument/2006/relationships" id="260" r:id="Rcad303b9e7a24afe"/>
    <p:sldId xmlns:r="http://schemas.openxmlformats.org/officeDocument/2006/relationships" id="261" r:id="Rad5262d3f47e4663"/>
    <p:sldId xmlns:r="http://schemas.openxmlformats.org/officeDocument/2006/relationships" id="262" r:id="Rbbc35d7d6942470f"/>
    <p:sldId xmlns:r="http://schemas.openxmlformats.org/officeDocument/2006/relationships" id="263" r:id="Rfcb274ed173e49f4"/>
    <p:sldId xmlns:r="http://schemas.openxmlformats.org/officeDocument/2006/relationships" id="264" r:id="R32932a127fbb4bd9"/>
    <p:sldId xmlns:r="http://schemas.openxmlformats.org/officeDocument/2006/relationships" id="265" r:id="Rd7b82b5115184512"/>
    <p:sldId xmlns:r="http://schemas.openxmlformats.org/officeDocument/2006/relationships" id="266" r:id="R1f374436ae204762"/>
    <p:sldId xmlns:r="http://schemas.openxmlformats.org/officeDocument/2006/relationships" id="267" r:id="Rdb4eb9db59ac41f5"/>
    <p:sldId xmlns:r="http://schemas.openxmlformats.org/officeDocument/2006/relationships" id="268" r:id="Rafafa74575234abc"/>
    <p:sldId xmlns:r="http://schemas.openxmlformats.org/officeDocument/2006/relationships" id="269" r:id="R40aa6275c4704013"/>
    <p:sldId xmlns:r="http://schemas.openxmlformats.org/officeDocument/2006/relationships" id="270" r:id="R0c87268043664985"/>
    <p:sldId xmlns:r="http://schemas.openxmlformats.org/officeDocument/2006/relationships" id="271" r:id="R76ad1d82dba44082"/>
    <p:sldId xmlns:r="http://schemas.openxmlformats.org/officeDocument/2006/relationships" id="272" r:id="R7df9d717c1cf4c17"/>
    <p:sldId xmlns:r="http://schemas.openxmlformats.org/officeDocument/2006/relationships" id="273" r:id="R7b8035d2f5384b6e"/>
    <p:sldId xmlns:r="http://schemas.openxmlformats.org/officeDocument/2006/relationships" id="274" r:id="R7bb9cc013e904d7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3b57f0a3cd4a7a" /><Relationship Type="http://schemas.openxmlformats.org/officeDocument/2006/relationships/slideMaster" Target="/ppt/slideMasters/slideMaster1.xml" Id="R8dd70e4088414c03" /><Relationship Type="http://schemas.openxmlformats.org/officeDocument/2006/relationships/slideMaster" Target="/ppt/slideMasters/slideMaster2.xml" Id="R9c338f9a6f6e4d1f" /><Relationship Type="http://schemas.openxmlformats.org/officeDocument/2006/relationships/notesMaster" Target="/ppt/notesMasters/notesMaster1.xml" Id="Rc01b385c0be9472f" /><Relationship Type="http://schemas.openxmlformats.org/officeDocument/2006/relationships/presProps" Target="/ppt/presProps.xml" Id="Rae3fe2ed7fee422b" /><Relationship Type="http://schemas.openxmlformats.org/officeDocument/2006/relationships/viewProps" Target="/ppt/viewProps.xml" Id="R729a18f201a34ef6" /><Relationship Type="http://schemas.openxmlformats.org/officeDocument/2006/relationships/tableStyles" Target="/ppt/tableStyles.xml" Id="R9c3aed6fd6be46fa" /><Relationship Type="http://schemas.openxmlformats.org/officeDocument/2006/relationships/slide" Target="/ppt/slides/slide1.xml" Id="Rf1e7c5c0dcad48b0" /><Relationship Type="http://schemas.openxmlformats.org/officeDocument/2006/relationships/slide" Target="/ppt/slides/slide2.xml" Id="Re6d772f8d6aa4f24" /><Relationship Type="http://schemas.openxmlformats.org/officeDocument/2006/relationships/slide" Target="/ppt/slides/slide3.xml" Id="Rdf9f95cd462a42e5" /><Relationship Type="http://schemas.openxmlformats.org/officeDocument/2006/relationships/slide" Target="/ppt/slides/slide4.xml" Id="Rce4758f3d47645a1" /><Relationship Type="http://schemas.openxmlformats.org/officeDocument/2006/relationships/slide" Target="/ppt/slides/slide5.xml" Id="Rcad303b9e7a24afe" /><Relationship Type="http://schemas.openxmlformats.org/officeDocument/2006/relationships/slide" Target="/ppt/slides/slide6.xml" Id="Rad5262d3f47e4663" /><Relationship Type="http://schemas.openxmlformats.org/officeDocument/2006/relationships/slide" Target="/ppt/slides/slide7.xml" Id="Rbbc35d7d6942470f" /><Relationship Type="http://schemas.openxmlformats.org/officeDocument/2006/relationships/slide" Target="/ppt/slides/slide8.xml" Id="Rfcb274ed173e49f4" /><Relationship Type="http://schemas.openxmlformats.org/officeDocument/2006/relationships/slide" Target="/ppt/slides/slide9.xml" Id="R32932a127fbb4bd9" /><Relationship Type="http://schemas.openxmlformats.org/officeDocument/2006/relationships/slide" Target="/ppt/slides/slide10.xml" Id="Rd7b82b5115184512" /><Relationship Type="http://schemas.openxmlformats.org/officeDocument/2006/relationships/slide" Target="/ppt/slides/slide11.xml" Id="R1f374436ae204762" /><Relationship Type="http://schemas.openxmlformats.org/officeDocument/2006/relationships/slide" Target="/ppt/slides/slide12.xml" Id="Rdb4eb9db59ac41f5" /><Relationship Type="http://schemas.openxmlformats.org/officeDocument/2006/relationships/slide" Target="/ppt/slides/slide13.xml" Id="Rafafa74575234abc" /><Relationship Type="http://schemas.openxmlformats.org/officeDocument/2006/relationships/slide" Target="/ppt/slides/slide14.xml" Id="R40aa6275c4704013" /><Relationship Type="http://schemas.openxmlformats.org/officeDocument/2006/relationships/slide" Target="/ppt/slides/slide15.xml" Id="R0c87268043664985" /><Relationship Type="http://schemas.openxmlformats.org/officeDocument/2006/relationships/slide" Target="/ppt/slides/slide16.xml" Id="R76ad1d82dba44082" /><Relationship Type="http://schemas.openxmlformats.org/officeDocument/2006/relationships/slide" Target="/ppt/slides/slide17.xml" Id="R7df9d717c1cf4c17" /><Relationship Type="http://schemas.openxmlformats.org/officeDocument/2006/relationships/slide" Target="/ppt/slides/slide18.xml" Id="R7b8035d2f5384b6e" /><Relationship Type="http://schemas.openxmlformats.org/officeDocument/2006/relationships/slide" Target="/ppt/slides/slide19.xml" Id="R7bb9cc013e904d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3042cef29204c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9ca0bd5fec4419" /><Relationship Type="http://schemas.openxmlformats.org/officeDocument/2006/relationships/notesMaster" Target="/ppt/notesMasters/notesMaster1.xml" Id="R34c9261cbe4641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09992c6cc64b7d" /><Relationship Type="http://schemas.openxmlformats.org/officeDocument/2006/relationships/notesMaster" Target="/ppt/notesMasters/notesMaster1.xml" Id="Rc65f1e0226f84d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e659a9a16941c7" /><Relationship Type="http://schemas.openxmlformats.org/officeDocument/2006/relationships/notesMaster" Target="/ppt/notesMasters/notesMaster1.xml" Id="Re5d4ace60e0d4c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e39d0c818c4402" /><Relationship Type="http://schemas.openxmlformats.org/officeDocument/2006/relationships/notesMaster" Target="/ppt/notesMasters/notesMaster1.xml" Id="Rab8901bed54b48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ccf6fb251b49d5" /><Relationship Type="http://schemas.openxmlformats.org/officeDocument/2006/relationships/notesMaster" Target="/ppt/notesMasters/notesMaster1.xml" Id="Ra610d1e57acb45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34e4059bda4562" /><Relationship Type="http://schemas.openxmlformats.org/officeDocument/2006/relationships/notesMaster" Target="/ppt/notesMasters/notesMaster1.xml" Id="R391f596bb3c74d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9c1d1232ee4869" /><Relationship Type="http://schemas.openxmlformats.org/officeDocument/2006/relationships/notesMaster" Target="/ppt/notesMasters/notesMaster1.xml" Id="R16bea0e21b8841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9544c19fc2401d" /><Relationship Type="http://schemas.openxmlformats.org/officeDocument/2006/relationships/notesMaster" Target="/ppt/notesMasters/notesMaster1.xml" Id="R5354ffd56e934a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c4d268d789451a" /><Relationship Type="http://schemas.openxmlformats.org/officeDocument/2006/relationships/notesMaster" Target="/ppt/notesMasters/notesMaster1.xml" Id="Rc7f480f31a5449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46873b871544d1" /><Relationship Type="http://schemas.openxmlformats.org/officeDocument/2006/relationships/notesMaster" Target="/ppt/notesMasters/notesMaster1.xml" Id="R5342a8ee91d947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906059a475467e" /><Relationship Type="http://schemas.openxmlformats.org/officeDocument/2006/relationships/notesMaster" Target="/ppt/notesMasters/notesMaster1.xml" Id="R31b4f785962847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7f36a8c4b14a79" /><Relationship Type="http://schemas.openxmlformats.org/officeDocument/2006/relationships/notesMaster" Target="/ppt/notesMasters/notesMaster1.xml" Id="Rdc13762c5bbe4fd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8691a8b8970465e" /><Relationship Type="http://schemas.openxmlformats.org/officeDocument/2006/relationships/notesMaster" Target="/ppt/notesMasters/notesMaster1.xml" Id="Rb0d13af4ac0e4b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41a148836b54388" /><Relationship Type="http://schemas.openxmlformats.org/officeDocument/2006/relationships/notesMaster" Target="/ppt/notesMasters/notesMaster1.xml" Id="R6e98627172e14c8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b3b291d37d4ce2" /><Relationship Type="http://schemas.openxmlformats.org/officeDocument/2006/relationships/notesMaster" Target="/ppt/notesMasters/notesMaster1.xml" Id="Rfa1573983a89483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10ab107270b49a5" /><Relationship Type="http://schemas.openxmlformats.org/officeDocument/2006/relationships/notesMaster" Target="/ppt/notesMasters/notesMaster1.xml" Id="R26066c76808f41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25f6d726834d57" /><Relationship Type="http://schemas.openxmlformats.org/officeDocument/2006/relationships/notesMaster" Target="/ppt/notesMasters/notesMaster1.xml" Id="R83f215a81d4c45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8a2e5a9f0d400a" /><Relationship Type="http://schemas.openxmlformats.org/officeDocument/2006/relationships/notesMaster" Target="/ppt/notesMasters/notesMaster1.xml" Id="R74f06e8bb67448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690edb1a9124ca6" /><Relationship Type="http://schemas.openxmlformats.org/officeDocument/2006/relationships/notesMaster" Target="/ppt/notesMasters/notesMaster1.xml" Id="Rd6f29edb5f024a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刃知面向机械加工科研人员，把多通道刀具磨损算法研发变成可配置、可审批、可追溯的实验闭环。</a:t>
            </a:r>
            <a:endParaRPr/>
          </a:p>
          <a:p xmlns:a="http://schemas.openxmlformats.org/drawingml/2006/main">
            <a:r>
              <a:t>本方案使用官方 AgentTeams 作为多 Agent 协同底座。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六个卡片对应官方评分关注的场景、协作、Skill、复用、工程进展与真实结果。</a:t>
            </a:r>
            <a:endParaRPr/>
          </a:p>
          <a:p xmlns:a="http://schemas.openxmlformats.org/drawingml/2006/main">
            <a:r>
              <a:t>Macro-F1 和 Evidence 数量来自本轮独立演示实验。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  <a:p xmlns:a="http://schemas.openxmlformats.org/drawingml/2006/main">
            <a:r>
              <a:t>- F:/Toolwear_agent/toolwear_agent_app/docs/submission/初赛作品简介.md</a:t>
            </a:r>
            <a:endParaRPr/>
          </a:p>
          <a:p xmlns:a="http://schemas.openxmlformats.org/drawingml/2006/main">
            <a:r>
              <a:t>- experiment-def463e61abd4da1b5f4c84a58878265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目录沿用官方模板的八章结构，章节顺序与评分项对应。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本章回答谁在用、为什么需要，以及为何能迁移到其他工业时序任务。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左图展示新建实验：数据集、刀具、任务、标签阈值、信号通道、滑窗和小样本比例均可配置。</a:t>
            </a:r>
          </a:p>
          <a:p xmlns:a="http://schemas.openxmlformats.org/drawingml/2006/main">
            <a:r>
              <a:t>右图展示数据登记、标签分布、按 cut 分组切分和泄漏审计结果。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</a:t>
            </a:r>
          </a:p>
          <a:p xmlns:a="http://schemas.openxmlformats.org/drawingml/2006/main">
            <a:r>
              <a:t>- F:/Toolwear_agent/toolwear_agent_app/docs/assets/demo/01-new-experiment.png</a:t>
            </a:r>
          </a:p>
          <a:p xmlns:a="http://schemas.openxmlformats.org/drawingml/2006/main">
            <a:r>
              <a:t>- F:/Toolwear_agent/toolwear_agent_app/docs/assets/demo/03-data-prepared.png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本章说明统一实验台、状态机、训练服务和证据链如何组成端到端方案。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每一步都有明确前置条件、状态迁移和持久化结果。</a:t>
            </a:r>
            <a:endParaRPr/>
          </a:p>
          <a:p xmlns:a="http://schemas.openxmlformats.org/drawingml/2006/main">
            <a:r>
              <a:t>SQLite 保存实验定义、审批、运行、事件、Evidence 和记忆索引，文件系统保存代码、模型、图表和报告。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  <a:p xmlns:a="http://schemas.openxmlformats.org/drawingml/2006/main">
            <a:r>
              <a:t>- F:/Toolwear_agent/toolwear_agent_app/docs/assets/demo/02-experiment-defined.png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固定六角色的职责、工具权限和交接输出均已实现并产生真实调用记录。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六个角色：实验主控、数据治理、算法架构、代码训练、评估治理、报告记忆。</a:t>
            </a:r>
            <a:endParaRPr/>
          </a:p>
          <a:p xmlns:a="http://schemas.openxmlformats.org/drawingml/2006/main">
            <a:r>
              <a:t>本次实验共七次结构化 LLM 调用；一次失败被保留并成功恢复，证明输出策略会真实生效。</a:t>
            </a:r>
            <a:endParaRPr/>
          </a:p>
          <a:p xmlns:a="http://schemas.openxmlformats.org/drawingml/2006/main">
            <a:r>
              <a:t>Element 截图显示 Team、Leader、Worker、Skill 调用和心跳证据。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  <a:p xmlns:a="http://schemas.openxmlformats.org/drawingml/2006/main">
            <a:r>
              <a:t>- F:/Toolwear_agent/toolwear_agent_app/docs/assets/demo/11-agent-collaboration.png</a:t>
            </a:r>
            <a:endParaRPr/>
          </a:p>
          <a:p xmlns:a="http://schemas.openxmlformats.org/drawingml/2006/main">
            <a:r>
              <a:t>- F:/Toolwear_agent/toolwear_agent_app/docs/assets/demo/12-element-agentteams-team.png</a:t>
            </a:r>
            <a:endParaRPr/>
          </a:p>
          <a:p xmlns:a="http://schemas.openxmlformats.org/drawingml/2006/main">
            <a:r>
              <a:t>- D:/AI_infra/agentteams/evidence/agt-e2e-final-20260815174832/agentteams_e2e_report.md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自然语言建议只有通过 Registry 与 Tool API 契约才能进入真实执行。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 Skill 覆盖实验定义、数据体检、标签生成、无泄漏切分、候选生成、审批冻结、真实训练、评估诊断、决策归档和报告记忆。</a:t>
            </a:r>
            <a:endParaRPr/>
          </a:p>
          <a:p xmlns:a="http://schemas.openxmlformats.org/drawingml/2006/main">
            <a:r>
              <a:t>当前使用受鉴权 FastAPI Tool API 作为确定性工具契约；后续增加 MCP transport adapter，不改业务 schema。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  <a:p xmlns:a="http://schemas.openxmlformats.org/drawingml/2006/main">
            <a:r>
              <a:t>- F:/Toolwear_agent/toolwear_agent_app/docs/assets/demo/05-approved-pipeline.png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本章展示一次真实运行，而不是静态界面或预填结果。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候选由 qwen3.7-flash-2026-07-15 生成，未使用固定模板回退。</a:t>
            </a:r>
            <a:endParaRPr/>
          </a:p>
          <a:p xmlns:a="http://schemas.openxmlformats.org/drawingml/2006/main">
            <a:r>
              <a:t>选定 statistical_features_random_forest 后真实训练，validation Macro-F1 0.937540，Balanced Accuracy 0.933633。</a:t>
            </a:r>
            <a:endParaRPr/>
          </a:p>
          <a:p xmlns:a="http://schemas.openxmlformats.org/drawingml/2006/main">
            <a:r>
              <a:t>EvaluationGovernorAgent 读取指标、分类报告、混淆矩阵和 t-SNE 后输出诊断。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  <a:p xmlns:a="http://schemas.openxmlformats.org/drawingml/2006/main">
            <a:r>
              <a:t>- F:/Toolwear_agent/toolwear_agent_app/docs/assets/demo/04-llm-candidates.png</a:t>
            </a:r>
            <a:endParaRPr/>
          </a:p>
          <a:p xmlns:a="http://schemas.openxmlformats.org/drawingml/2006/main">
            <a:r>
              <a:t>- F:/Toolwear_agent/toolwear_agent_app/docs/assets/demo/06-training-result.png</a:t>
            </a:r>
            <a:endParaRPr/>
          </a:p>
          <a:p xmlns:a="http://schemas.openxmlformats.org/drawingml/2006/main">
            <a:r>
              <a:t>- F:/Toolwear_agent/toolwear_agent_app/docs/assets/demo/07-evaluation-metrics.png</a:t>
            </a:r>
            <a:endParaRPr/>
          </a:p>
          <a:p xmlns:a="http://schemas.openxmlformats.org/drawingml/2006/main">
            <a:r>
              <a:t>- F:/Toolwear_agent/toolwear_agent_app/docs/assets/demo/08-evaluation-diagnosis.png</a:t>
            </a:r>
            <a:endParaRPr/>
          </a:p>
          <a:p xmlns:a="http://schemas.openxmlformats.org/drawingml/2006/main">
            <a:r>
              <a:t>- run-5060d635be9bc80a9cccb7f6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开源范围遵循最小必要原则：开放可复用工程资产，不公开敏感数据和密钥。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 GitHub 仓库采用白名单整理：仅发布代码、依赖、配置示例、README、完整使用说明和必要 AgentTeams 证据。</a:t>
            </a:r>
          </a:p>
          <a:p xmlns:a="http://schemas.openxmlformats.org/drawingml/2006/main">
            <a:r>
              <a:t>原始 PHM2010 数据不随仓库发布，用户通过本地路径登记。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</a:t>
            </a:r>
          </a:p>
          <a:p xmlns:a="http://schemas.openxmlformats.org/drawingml/2006/main">
            <a:r>
              <a:t>- https://github.com/season-yy/ToolWear_agent.git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本章用同一 experiment、trace 与 run 对齐决策、报告和证据。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停止并不表示训练失败，而是小样本 P0 已达到演示目标，继续消耗预算的收益有限。</a:t>
            </a:r>
            <a:endParaRPr/>
          </a:p>
          <a:p xmlns:a="http://schemas.openxmlformats.org/drawingml/2006/main">
            <a:r>
              <a:t>实验归档后仍保留继续调参、替换候选和完整训练的建议。</a:t>
            </a:r>
            <a:endParaRPr/>
          </a:p>
          <a:p xmlns:a="http://schemas.openxmlformats.org/drawingml/2006/main">
            <a:r>
              <a:t>九个状态事件、28 项 Evidence、代码快照、图表和 Markdown 报告均可回溯。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  <a:p xmlns:a="http://schemas.openxmlformats.org/drawingml/2006/main">
            <a:r>
              <a:t>- F:/Toolwear_agent/toolwear_agent_app/docs/assets/demo/09-decision-archive.png</a:t>
            </a:r>
            <a:endParaRPr/>
          </a:p>
          <a:p xmlns:a="http://schemas.openxmlformats.org/drawingml/2006/main">
            <a:r>
              <a:t>- F:/Toolwear_agent/toolwear_agent_app/docs/assets/demo/10-evidence-timeline.png</a:t>
            </a:r>
            <a:endParaRPr/>
          </a:p>
          <a:p xmlns:a="http://schemas.openxmlformats.org/drawingml/2006/main">
            <a:r>
              <a:t>- trace-fb0fbc1f707642faad890d6796bd963d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最后说明团队领域背景、当前分工和从 P0 走向可落地平台的路线。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https://www.goaihz.com/tracks?track=infra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 P0 只承诺 PHM2010 C1 四阶段分类闭环；跨刀具迁移、VB 回归与企业数据接入属于后续路线。</a:t>
            </a:r>
          </a:p>
          <a:p xmlns:a="http://schemas.openxmlformats.org/drawingml/2006/main">
            <a:r>
              <a:t>团队介绍保持真实，不虚构成员、奖项或单位。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https://www.goaihz.com/tracks?track=infra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bc8451278041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959eb13a81f429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a7c5f3c0054935" /><Relationship Type="http://schemas.openxmlformats.org/officeDocument/2006/relationships/slideLayout" Target="/ppt/slideLayouts/slideLayout1.xml" Id="R735419c96fc7442f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50b23601fb54520" /><Relationship Type="http://schemas.openxmlformats.org/officeDocument/2006/relationships/slideLayout" Target="/ppt/slideLayouts/slideLayout2.xml" Id="Rbfad9f1f72ed4bc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5419c96fc7442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bfad9f1f72ed4bc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f8a897d9e049ea" /><Relationship Type="http://schemas.openxmlformats.org/officeDocument/2006/relationships/notesSlide" Target="/ppt/notesSlides/notesSlide1.xml" Id="R1a1c2a3036544e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3fdfa6007488f" /><Relationship Type="http://schemas.openxmlformats.org/officeDocument/2006/relationships/notesSlide" Target="/ppt/notesSlides/notesSlide2.xml" Id="Rdb1c1379ab1746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03ef3ed7604f16" /><Relationship Type="http://schemas.openxmlformats.org/officeDocument/2006/relationships/notesSlide" Target="/ppt/notesSlides/notesSlide3.xml" Id="R9278d40827cf41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60179f78e4b90" /><Relationship Type="http://schemas.openxmlformats.org/officeDocument/2006/relationships/notesSlide" Target="/ppt/notesSlides/notesSlide4.xml" Id="Rbc90e48a3de246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2925edafcc4dee" /><Relationship Type="http://schemas.openxmlformats.org/officeDocument/2006/relationships/image" Target="/ppt/media/image.png" Id="R4f380b33f2914aa3" /><Relationship Type="http://schemas.openxmlformats.org/officeDocument/2006/relationships/image" Target="/ppt/media/image2.png" Id="R1e0d6c404fd54f55" /><Relationship Type="http://schemas.openxmlformats.org/officeDocument/2006/relationships/notesSlide" Target="/ppt/notesSlides/notesSlide5.xml" Id="R7e1ce4b54bf244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7e2d118a1c4325" /><Relationship Type="http://schemas.openxmlformats.org/officeDocument/2006/relationships/notesSlide" Target="/ppt/notesSlides/notesSlide6.xml" Id="R61a3ce0f31194c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4f25c52e248a2" /><Relationship Type="http://schemas.openxmlformats.org/officeDocument/2006/relationships/image" Target="/ppt/media/image3.png" Id="R6c522b1e2fcb4c35" /><Relationship Type="http://schemas.openxmlformats.org/officeDocument/2006/relationships/notesSlide" Target="/ppt/notesSlides/notesSlide7.xml" Id="Rced3f650e4ac4b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663b061e7b4b16" /><Relationship Type="http://schemas.openxmlformats.org/officeDocument/2006/relationships/notesSlide" Target="/ppt/notesSlides/notesSlide8.xml" Id="R728558db8f3348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e20bf16f9422a" /><Relationship Type="http://schemas.openxmlformats.org/officeDocument/2006/relationships/image" Target="/ppt/media/image4.png" Id="R6cabe52e99a740ce" /><Relationship Type="http://schemas.openxmlformats.org/officeDocument/2006/relationships/image" Target="/ppt/media/image5.png" Id="Rbd26e5778696450d" /><Relationship Type="http://schemas.openxmlformats.org/officeDocument/2006/relationships/notesSlide" Target="/ppt/notesSlides/notesSlide9.xml" Id="Reffa7894dca549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4fa214218e48ee" /><Relationship Type="http://schemas.openxmlformats.org/officeDocument/2006/relationships/notesSlide" Target="/ppt/notesSlides/notesSlide10.xml" Id="R261abb61cf51418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ebe7d879c4ddc" /><Relationship Type="http://schemas.openxmlformats.org/officeDocument/2006/relationships/image" Target="/ppt/media/image6.png" Id="Rdc4ab8a7a81f436a" /><Relationship Type="http://schemas.openxmlformats.org/officeDocument/2006/relationships/notesSlide" Target="/ppt/notesSlides/notesSlide11.xml" Id="R620e25adfb6649d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6325ea34564084" /><Relationship Type="http://schemas.openxmlformats.org/officeDocument/2006/relationships/notesSlide" Target="/ppt/notesSlides/notesSlide12.xml" Id="R5f4aa5a2921e48a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477c5bc1c46c0" /><Relationship Type="http://schemas.openxmlformats.org/officeDocument/2006/relationships/image" Target="/ppt/media/image7.png" Id="R2ef9001d2b2c422f" /><Relationship Type="http://schemas.openxmlformats.org/officeDocument/2006/relationships/image" Target="/ppt/media/image8.png" Id="R68405b9464344c75" /><Relationship Type="http://schemas.openxmlformats.org/officeDocument/2006/relationships/image" Target="/ppt/media/image9.png" Id="R560e1817cd3e4515" /><Relationship Type="http://schemas.openxmlformats.org/officeDocument/2006/relationships/image" Target="/ppt/media/image10.png" Id="Re54a2774c9004807" /><Relationship Type="http://schemas.openxmlformats.org/officeDocument/2006/relationships/notesSlide" Target="/ppt/notesSlides/notesSlide13.xml" Id="R866c0d605b4541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2b61c11a7a441f" /><Relationship Type="http://schemas.openxmlformats.org/officeDocument/2006/relationships/notesSlide" Target="/ppt/notesSlides/notesSlide14.xml" Id="R20a154a56eaf46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a70061be54459" /><Relationship Type="http://schemas.openxmlformats.org/officeDocument/2006/relationships/notesSlide" Target="/ppt/notesSlides/notesSlide15.xml" Id="R7a6c2014129747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9ed4a433c648f3" /><Relationship Type="http://schemas.openxmlformats.org/officeDocument/2006/relationships/notesSlide" Target="/ppt/notesSlides/notesSlide16.xml" Id="R9fbd5be7a8b041b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f679648a64f5b" /><Relationship Type="http://schemas.openxmlformats.org/officeDocument/2006/relationships/image" Target="/ppt/media/image11.png" Id="Rc9748a3adb274a4a" /><Relationship Type="http://schemas.openxmlformats.org/officeDocument/2006/relationships/image" Target="/ppt/media/image12.png" Id="Ra9ce4438637b4dba" /><Relationship Type="http://schemas.openxmlformats.org/officeDocument/2006/relationships/notesSlide" Target="/ppt/notesSlides/notesSlide17.xml" Id="R5ce4a00376d144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8c89b009141d0" /><Relationship Type="http://schemas.openxmlformats.org/officeDocument/2006/relationships/notesSlide" Target="/ppt/notesSlides/notesSlide18.xml" Id="Rec404c07a6ac49d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4670e2bbe4952" /><Relationship Type="http://schemas.openxmlformats.org/officeDocument/2006/relationships/notesSlide" Target="/ppt/notesSlides/notesSlide19.xml" Id="Rfd8c8046679546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CB51391-BA13-4BCB-B96F-C6941955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D15390-4B5C-4E3B-ABD0-0DDC0EE1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027FB1-D126-4E2D-B246-7F1EB69F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B6B92C0-4748-49C3-AB0E-9C8BE7EF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2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GOAI世界人工智能开源大赛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EE5DF48-3FFC-4F6B-9A38-54132361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868680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刃知</a:t>
            </a:r>
            <a:endParaRPr sz="4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26DE28A-AA36-48FA-B3FD-6544A890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EB6D6"/>
                </a:solidFill>
                <a:latin typeface="微软雅黑"/>
                <a:ea typeface="微软雅黑"/>
                <a:cs typeface="微软雅黑"/>
              </a:rPr>
              <a:t>PHM2010 C1 · 真实闭环演示 · 2026.08</a:t>
            </a:r>
            <a:endParaRPr sz="1100"/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1CC45908-1BAB-463E-AF53-560D7F96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26510"/>
            <a:ext cx="6096000" cy="32194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2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基于 AgentTeams 的刀具磨损监测算法辅助平台</a:t>
            </a:r>
            <a:endParaRPr sz="1500" b="1" kern="0" spc="200">
              <a:solidFill>
                <a:srgbClr val="FF6B35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48761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01DF7BE-9816-480C-A877-703B5696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P0 · 一页纸速览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D6C2BD-3593-42B2-A3AB-0E23F1DF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作品简介</a:t>
            </a:r>
            <a:endParaRPr sz="29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93C73F0-E9EF-4917-BA90-79C845CD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FFB65EF-E29B-4DC5-AF10-6E49441A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4B566A7-C055-41E1-AF4C-6CA34C6B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项目名称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9D66815-6918-42C7-B14E-934F1D70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面向机械科研人员的算法实验助手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FC1B15-7960-4B73-94F0-56948463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刃知 / AgentTeams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59475A1-C443-45CF-B82E-03F292C5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DA72B22-9975-42A3-9436-8A603709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0349E37-4192-467F-A286-DA8F96C6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问题与场景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B3CD9D6-EE17-4F99-92DB-DEA575FC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多通道模型选择与试错成本高</a:t>
            </a:r>
            <a:endParaRPr sz="1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DF59756-EC2E-4B16-9637-AE5589C5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实验上下文难复用</a:t>
            </a:r>
            <a:endParaRPr sz="10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B89B465-91EF-4492-B35E-C9C5B100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DE7464C-60D1-4B44-BBDF-F584F199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4C2BF13-A3B6-42A0-98E5-0142880B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核心解决方案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DB94274-3143-4FE2-B2CE-30956426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六 Agent + 十 Skill + 人工审批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90F7E33-5ECD-4233-BC3A-7942FD36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一条可恢复闭环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14CC239-770A-4D74-9421-5609DD9F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006FADEC-611D-4C5B-93E5-A019F0F8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9C58E27-3922-4558-9D2C-9AFFBE04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创新点与差异化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5982D7C-DA12-4FE7-B181-D5D9E1A8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LLM 判断，确定性服务计算</a:t>
            </a:r>
            <a:endParaRPr sz="11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F218848-119C-40CA-BBEA-C149C1C7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防泄漏 + 可审计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BBD585D-60E4-441E-BF23-570A4733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5906638-6E8E-49F0-8324-19D7877F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20737FE-A274-4651-9BD8-40DE4B20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开放 / 复用价值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39C29BB-5F9D-4945-93E3-11F0D734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Agent / Skill / API 契约可迁移</a:t>
            </a:r>
            <a:endParaRPr sz="1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1CBABE6-7264-4571-B614-62CE0CFD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代码与接口开放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D0195F3-2583-464C-8203-4830AE98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EBCECD7-B9C2-4FB2-92E3-D2641FA0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13C181E-DB96-45D6-8668-90C89588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当前进展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3F0948D-88B2-484D-8D48-2BA84397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1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PHM2010 C1 全链路真实跑通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8C46D29-46AC-49B2-99E8-45165738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9AA1B8"/>
                </a:solidFill>
                <a:latin typeface="微软雅黑"/>
                <a:ea typeface="微软雅黑"/>
                <a:cs typeface="微软雅黑"/>
              </a:rPr>
              <a:t>F1 0.9375 / 28 Evidence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00B428C-7B6D-4B98-986D-DC35B5CF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589840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D18F9FA-7841-4F2A-A55D-DFAA91C8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137160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15661B0-6D78-4ADC-9A6E-2732EF4D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14400" y="475488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6F4C7BA-10B9-4BD8-BDF6-D9FFAA7D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051560"/>
            <a:ext cx="9144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30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AEDAE0B-D79C-4256-A7E0-B7150EF2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57400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821F3FE-C10C-4E82-8C47-0D5BAC51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04288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D4F297-CE96-433B-8DD1-DF349847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04288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1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C10A4DD-A942-43F0-B699-B5263508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2057400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场景与价值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04F25BC-5B82-4060-933C-5B9B9986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2057400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D9589A7-2AA9-4A5A-AFFE-0181250B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2304288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7020D87-EA2E-4EE0-83CD-74D25DA5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2304288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5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A7C4EE3-4667-476C-95EC-29C67481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2057400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工程验证与安全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04EC724-62E1-40A7-A105-9F8915B3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99816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E099F6B-C1AF-4303-9637-27B1ADAC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346704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D99C3F2-D187-408F-B6FC-5E86363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3346704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2</a:t>
            </a:r>
            <a:endParaRPr sz="1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FB42043-865B-400A-B916-CC63DC65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3099816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方案总览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19AA94C-AAF3-440B-8697-BCA3F7AE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3099816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0681D21-0841-4EBC-9B06-568F17B8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3346704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C195BD4-2A7B-4706-8FA3-24B625D0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3346704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6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2F6D0C9-03B8-47E0-9DF7-15C1D04A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3099816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开放 / 开源计划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743B205-97B8-4081-8566-D4AA9533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42232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bg1"/>
              </a:solidFill>
            </a:endParaRP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76F2978-CD6A-4049-9B62-6CB77DC1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4389120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B97B5E8-D426-4EC0-B3E1-2B4C9A15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4389120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3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43A2F43-860C-4D33-AF63-945D22F9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4142232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多 Agent 协同设计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A4E3AA2-AF60-4847-AC2E-BD94F85C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4142232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B6A5AA-4732-4467-B7A4-5054E09C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4389120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43970DB-09CF-4D89-A70C-C263395D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4389120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7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5A3C87F-AD2B-4995-8334-134F7DF9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4142232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落地进展与证据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0E859AD-01B7-4188-87A3-B6A7ABDD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184648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B5AD7021-CAF6-49F7-B7AB-3B90C781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5431536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7BD6BFF-90C7-4999-8EC7-C3325743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5431536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4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1A597E9-08CC-40D0-BEF8-51ECBD0A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5184648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Skill 工程体系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1DB3D100-2D03-49E0-8EA5-9559870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448" y="5184648"/>
            <a:ext cx="5272888" cy="786384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A2F5B"/>
          </a:solidFill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04256CD1-9A4B-4E97-ADDE-E6D4FA56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5431536"/>
            <a:ext cx="292608" cy="292608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776BA7C-EFCF-4611-A2A5-69E1ED37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616" y="5431536"/>
            <a:ext cx="29260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/>
              <a:t>8</a:t>
            </a:r>
            <a:endParaRPr sz="13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07E1E41-A83A-459B-9865-5973AAE0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240" y="5184648"/>
            <a:ext cx="4495648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lnSpc>
                <a:spcPct val="110000"/>
              </a:lnSpc>
              <a:buNone/>
            </a:pPr>
            <a:r>
              <a:rPr sz="1250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团队与未来</a:t>
            </a:r>
            <a:endParaRPr sz="125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296281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25B449-C39A-4235-B2CF-9E74FAD4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278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第一章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8060949-45DC-428F-9435-4150F094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3710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场景与价值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2B1BA78-7EC0-4312-946E-F6455815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375" y="363855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1AFF5DE-0286-4442-A7E8-D37F3156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6543" y="455295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B30274E-9C31-48B9-BA79-42A93E55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6543" y="674751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场景价值与行业可复制性</a:t>
            </a:r>
            <a:endParaRPr sz="12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83B5244-3B97-4834-A229-79486680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4375" y="528447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FC999AD-02EB-4B37-A00D-25C15E0E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4375" y="528447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8F88C639-CCCF-41AE-AD11-CB49E543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024583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35F35C1A-1B90-488E-9B5F-F3671708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第一章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7926860-7EEB-4D7D-8859-C72EF400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让实验判断可复用，而不是反复试模型</a:t>
            </a:r>
            <a:endParaRPr sz="2900"/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924027D5-C4E7-453C-9CFA-A891752C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用户在网页锁定数据、标签、滑窗、抽样和训练目标；系统先完成数据体检与无泄漏切分，再进入候选生成。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380b33f2914a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340360" y="2390775"/>
            <a:ext cx="5560060" cy="3127375"/>
          </a:xfrm>
          <a:prstGeom xmlns:a="http://schemas.openxmlformats.org/drawingml/2006/main" prst="rect">
            <a:avLst/>
          </a:prstGeom>
        </p:spPr>
      </p:pic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B859C1E4-3502-41AD-B783-B29AF19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115" y="5574030"/>
            <a:ext cx="4064000" cy="368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真实界面 · 新建实验 / 数据治理</a:t>
            </a:r>
            <a:endParaRPr/>
          </a:p>
        </p:txBody>
      </p:sp>
      <p:pic>
        <p:nvPicPr>
          <p:cNvPr id="1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d6c404fd54f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072505" y="2390775"/>
            <a:ext cx="5485765" cy="31013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895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83F0576-405E-4E6A-85E2-83328F872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278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第二章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0C7003-BEF6-4F59-8468-C4B223FB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3710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方案总览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8C98CB7B-4286-4D0A-8C9C-ED314353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425820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E48A7B-766B-427F-AB79-0944E438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第二章 · 端到端闭环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D333323-E023-4D92-8C7D-CA55D1FD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一次实验沿七阶段推进，任何一步都能恢复</a:t>
            </a:r>
            <a:endParaRPr sz="2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123747-094F-4249-BC66-1DC7BB23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8C8212A3-C5FF-46A3-A184-C22CDAC4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定义 → 数据准备 → 候选 → 审批 → 训练 → 评估 → 决策归档；状态、代码、图表和 Evidence 共用同一 trace。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4" name="图片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22b1e2fcb4c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2177415" y="1801495"/>
            <a:ext cx="7837805" cy="441833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5294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345AA26-705D-45CC-8A96-09845701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8</a:t>
            </a:r>
            <a:endParaRPr sz="1000"/>
          </a:p>
        </p:txBody>
      </p:sp>
      <p:sp>
        <p:nvSpPr>
          <p:cNvPr id="5" name="Text 0">
            <a:extLst xmlns:a="http://schemas.openxmlformats.org/drawingml/2006/main">
              <a:ext uri="{FF2B5EF4-FFF2-40B4-BE49-F238E27FC236}">
                <a16:creationId xmlns:a16="http://schemas.microsoft.com/office/drawing/2014/main" id="{AE83BBF4-3F6F-4829-8B9F-2D6C808E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72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第三章</a:t>
            </a:r>
            <a:endParaRPr sz="1200"/>
          </a:p>
        </p:txBody>
      </p:sp>
      <p:sp>
        <p:nvSpPr>
          <p:cNvPr id="6" name="Text 1">
            <a:extLst xmlns:a="http://schemas.openxmlformats.org/drawingml/2006/main">
              <a:ext uri="{FF2B5EF4-FFF2-40B4-BE49-F238E27FC236}">
                <a16:creationId xmlns:a16="http://schemas.microsoft.com/office/drawing/2014/main" id="{90649813-6F57-4335-B392-68481119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15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多 Agent 协同设计</a:t>
            </a:r>
            <a:endParaRPr sz="2900"/>
          </a:p>
        </p:txBody>
      </p:sp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FD5BF5B7-4EC7-4FB4-9862-C550C8FC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89060CBC-9685-424D-8A72-8302693A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ABC144FC-3B64-47E5-94C8-D2D0BD8E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多 Agent 协同与自主闭环能力</a:t>
            </a:r>
            <a:endParaRPr sz="1250"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689E83C9-FEDB-4F56-9B87-6854F0EC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482C574D-1AD9-4620-8783-385F7A1B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950658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A003F0A-3AE7-43F1-85B6-6F6DEEF0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第三章 · AgentTeams 实证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D516B4-4735-4F94-9EBA-152A320D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六个 Agent 分工，协作全程留痕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BB4859C-64F9-46A9-9E64-90FA8857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主控拆解任务；五个 Worker 只调用获授权 Skill。一次 Registry 输入缺失被策略拒绝，补齐后重试成功。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4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be52e99a740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5780" y="2304415"/>
            <a:ext cx="5283200" cy="2964180"/>
          </a:xfrm>
          <a:prstGeom xmlns:a="http://schemas.openxmlformats.org/drawingml/2006/main" prst="rect">
            <a:avLst/>
          </a:prstGeom>
        </p:spPr>
      </p:pic>
      <p:pic>
        <p:nvPicPr>
          <p:cNvPr id="45" name="图片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6e577869645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389370" y="2304415"/>
            <a:ext cx="5285740" cy="29641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697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4E1C2E6-9586-4E72-A4F4-72407C59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1000"/>
          </a:p>
        </p:txBody>
      </p:sp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B54C52-BCEB-453D-B6DB-405D9FD6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6786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第四章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280ECEB-8794-4E2C-9014-79C3DAB7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218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Skill 工程体系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6B3EB3-EDFF-4233-8E13-296DA166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12" name="Text 3">
            <a:extLst xmlns:a="http://schemas.openxmlformats.org/drawingml/2006/main">
              <a:ext uri="{FF2B5EF4-FFF2-40B4-BE49-F238E27FC236}">
                <a16:creationId xmlns:a16="http://schemas.microsoft.com/office/drawing/2014/main" id="{8DD1FA36-6159-4301-98E2-1B561216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13" name="Text 4">
            <a:extLst xmlns:a="http://schemas.openxmlformats.org/drawingml/2006/main">
              <a:ext uri="{FF2B5EF4-FFF2-40B4-BE49-F238E27FC236}">
                <a16:creationId xmlns:a16="http://schemas.microsoft.com/office/drawing/2014/main" id="{7C6F7BB7-D426-4B1C-8F5E-162782E3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Skill 工程体系与生态复用</a:t>
            </a:r>
            <a:endParaRPr sz="1250"/>
          </a:p>
        </p:txBody>
      </p:sp>
      <p:sp>
        <p:nvSpPr>
          <p:cNvPr id="14" name="Shape 5">
            <a:extLst xmlns:a="http://schemas.openxmlformats.org/drawingml/2006/main">
              <a:ext uri="{FF2B5EF4-FFF2-40B4-BE49-F238E27FC236}">
                <a16:creationId xmlns:a16="http://schemas.microsoft.com/office/drawing/2014/main" id="{7E545340-F5E8-4DA0-BA5E-C6E5A7FF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5" name="Text 6">
            <a:extLst xmlns:a="http://schemas.openxmlformats.org/drawingml/2006/main">
              <a:ext uri="{FF2B5EF4-FFF2-40B4-BE49-F238E27FC236}">
                <a16:creationId xmlns:a16="http://schemas.microsoft.com/office/drawing/2014/main" id="{225490FF-0A3C-491C-8AAA-F5C5D1AA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6428444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4C55A13-8E28-4BBC-BC23-F04D4765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第四章 · 本赛题必选项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6E27E13-2F05-4F97-8A28-85A4C97F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十个 Skill 把建议变成有契约的可执行动作</a:t>
            </a:r>
            <a:endParaRPr sz="2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0C7E245-A4A2-41D3-902F-153BFF75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8F646C-D51C-484B-A7A0-4CEEE012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25%</a:t>
            </a:r>
            <a:endParaRPr sz="15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827E1D13-5B31-4B33-8A2D-DEEADC2F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每个 Skill 定义用途、输入输出、触发、依赖、失败处理、安全边界、复用方式和协作 Agent；审批后冻结 Pipeline revision。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5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ab8a7a81f43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3225165" y="2377440"/>
            <a:ext cx="5741670" cy="32353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1394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F3DC4066-38DF-480D-8120-5078DEF7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12</a:t>
            </a:r>
            <a:endParaRPr sz="1000"/>
          </a:p>
        </p:txBody>
      </p:sp>
      <p:sp>
        <p:nvSpPr>
          <p:cNvPr id="5" name="Text 0">
            <a:extLst xmlns:a="http://schemas.openxmlformats.org/drawingml/2006/main">
              <a:ext uri="{FF2B5EF4-FFF2-40B4-BE49-F238E27FC236}">
                <a16:creationId xmlns:a16="http://schemas.microsoft.com/office/drawing/2014/main" id="{F1D54C1B-91FA-4DC3-81AF-26C48FEB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91993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第五章</a:t>
            </a:r>
            <a:endParaRPr sz="1200"/>
          </a:p>
        </p:txBody>
      </p:sp>
      <p:sp>
        <p:nvSpPr>
          <p:cNvPr id="6" name="Text 1">
            <a:extLst xmlns:a="http://schemas.openxmlformats.org/drawingml/2006/main">
              <a:ext uri="{FF2B5EF4-FFF2-40B4-BE49-F238E27FC236}">
                <a16:creationId xmlns:a16="http://schemas.microsoft.com/office/drawing/2014/main" id="{015AD580-0FB6-4AB1-AFD5-C9D2C7FB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66313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工程落地、运行验证与安全可审计</a:t>
            </a:r>
            <a:endParaRPr sz="2900"/>
          </a:p>
        </p:txBody>
      </p:sp>
      <p:sp>
        <p:nvSpPr>
          <p:cNvPr id="7" name="Shape 2">
            <a:extLst xmlns:a="http://schemas.openxmlformats.org/drawingml/2006/main">
              <a:ext uri="{FF2B5EF4-FFF2-40B4-BE49-F238E27FC236}">
                <a16:creationId xmlns:a16="http://schemas.microsoft.com/office/drawing/2014/main" id="{1BB347B9-DAB6-4A4E-9ECE-66F9C4AD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8" name="Text 3">
            <a:extLst xmlns:a="http://schemas.openxmlformats.org/drawingml/2006/main">
              <a:ext uri="{FF2B5EF4-FFF2-40B4-BE49-F238E27FC236}">
                <a16:creationId xmlns:a16="http://schemas.microsoft.com/office/drawing/2014/main" id="{4D86D83C-EE1F-4FD1-8AC1-77E2A3F6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9" name="Text 4">
            <a:extLst xmlns:a="http://schemas.openxmlformats.org/drawingml/2006/main">
              <a:ext uri="{FF2B5EF4-FFF2-40B4-BE49-F238E27FC236}">
                <a16:creationId xmlns:a16="http://schemas.microsoft.com/office/drawing/2014/main" id="{F1729E22-EF4A-440B-95DA-000DD8E0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工程落地与安全可审计</a:t>
            </a:r>
            <a:endParaRPr sz="1250"/>
          </a:p>
        </p:txBody>
      </p:sp>
      <p:sp>
        <p:nvSpPr>
          <p:cNvPr id="10" name="Shape 5">
            <a:extLst xmlns:a="http://schemas.openxmlformats.org/drawingml/2006/main">
              <a:ext uri="{FF2B5EF4-FFF2-40B4-BE49-F238E27FC236}">
                <a16:creationId xmlns:a16="http://schemas.microsoft.com/office/drawing/2014/main" id="{4CBE9CB7-F7ED-414B-B794-291C038F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98D73EDB-4779-4BEC-8ED4-17840433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20%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20665056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DCCDD3-A448-49DC-B977-3C8C6788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第五章 · 真实 Demo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61720E-5625-408B-9B67-80769078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一次真实 Demo 已从候选生成跑到专家诊断</a:t>
            </a:r>
            <a:endParaRPr sz="29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3566EA81-3D41-4680-B0AB-F72D4CE4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PHM2010 C1：315 cut，按 cut 隔离 60/20/20；训练集内分层抽取 20%，validation Macro-F1 0.9375，final test 未使用。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6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9001d2b2c42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2108200" y="1988820"/>
            <a:ext cx="3830087" cy="2160000"/>
          </a:xfrm>
          <a:prstGeom xmlns:a="http://schemas.openxmlformats.org/drawingml/2006/main" prst="rect">
            <a:avLst/>
          </a:prstGeom>
        </p:spPr>
      </p:pic>
      <p:pic>
        <p:nvPicPr>
          <p:cNvPr id="47" name="图片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405b9464344c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185535" y="1996440"/>
            <a:ext cx="3837275" cy="2160000"/>
          </a:xfrm>
          <a:prstGeom xmlns:a="http://schemas.openxmlformats.org/drawingml/2006/main" prst="rect">
            <a:avLst/>
          </a:prstGeom>
        </p:spPr>
      </p:pic>
      <p:pic>
        <p:nvPicPr>
          <p:cNvPr id="48" name="图片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e1817cd3e4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2108200" y="4288155"/>
            <a:ext cx="3838315" cy="2160000"/>
          </a:xfrm>
          <a:prstGeom xmlns:a="http://schemas.openxmlformats.org/drawingml/2006/main" prst="rect">
            <a:avLst/>
          </a:prstGeom>
        </p:spPr>
      </p:pic>
      <p:pic>
        <p:nvPicPr>
          <p:cNvPr id="49" name="图片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a2774c90048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185535" y="4303395"/>
            <a:ext cx="3831800" cy="216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2988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8D98127-4C0B-4190-B62A-9F245D9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14</a:t>
            </a:r>
            <a:endParaRPr sz="1000"/>
          </a:p>
        </p:txBody>
      </p:sp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580B62-9679-4FC5-BC23-7FF111F0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8373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第六章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EA2967C-B9A8-4D0D-A526-7831E431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5805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开放 / 开源计划</a:t>
            </a:r>
            <a:endParaRPr sz="2900"/>
          </a:p>
        </p:txBody>
      </p:sp>
      <p:sp>
        <p:nvSpPr>
          <p:cNvPr id="16" name="Shape 2">
            <a:extLst xmlns:a="http://schemas.openxmlformats.org/drawingml/2006/main">
              <a:ext uri="{FF2B5EF4-FFF2-40B4-BE49-F238E27FC236}">
                <a16:creationId xmlns:a16="http://schemas.microsoft.com/office/drawing/2014/main" id="{4B033404-46B6-4F31-BB09-2DC8C3CE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775" y="457200"/>
            <a:ext cx="4480560" cy="786384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EDE4"/>
          </a:solidFill>
          <a:ln xmlns:a="http://schemas.openxmlformats.org/drawingml/2006/main" w="12700">
            <a:solidFill>
              <a:srgbClr val="FF6B35"/>
            </a:solidFill>
            <a:prstDash val="solid"/>
          </a:ln>
        </p:spPr>
      </p:sp>
      <p:sp>
        <p:nvSpPr>
          <p:cNvPr id="17" name="Text 3">
            <a:extLst xmlns:a="http://schemas.openxmlformats.org/drawingml/2006/main">
              <a:ext uri="{FF2B5EF4-FFF2-40B4-BE49-F238E27FC236}">
                <a16:creationId xmlns:a16="http://schemas.microsoft.com/office/drawing/2014/main" id="{E6C6A811-7791-4ECE-AEAA-5CE03FF3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548640"/>
            <a:ext cx="3108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对应评分维度</a:t>
            </a:r>
            <a:endParaRPr sz="1000"/>
          </a:p>
        </p:txBody>
      </p:sp>
      <p:sp>
        <p:nvSpPr>
          <p:cNvPr id="18" name="Text 4">
            <a:extLst xmlns:a="http://schemas.openxmlformats.org/drawingml/2006/main">
              <a:ext uri="{FF2B5EF4-FFF2-40B4-BE49-F238E27FC236}">
                <a16:creationId xmlns:a16="http://schemas.microsoft.com/office/drawing/2014/main" id="{BC1F985A-2111-4EA8-BB17-54415F8A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7943" y="768096"/>
            <a:ext cx="3108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开放 / 开源贡献</a:t>
            </a:r>
            <a:endParaRPr sz="1250"/>
          </a:p>
        </p:txBody>
      </p:sp>
      <p:sp>
        <p:nvSpPr>
          <p:cNvPr id="19" name="Shape 5">
            <a:extLst xmlns:a="http://schemas.openxmlformats.org/drawingml/2006/main">
              <a:ext uri="{FF2B5EF4-FFF2-40B4-BE49-F238E27FC236}">
                <a16:creationId xmlns:a16="http://schemas.microsoft.com/office/drawing/2014/main" id="{FF462672-DF1A-4D4D-BF64-A1EC28F2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20" name="Text 6">
            <a:extLst xmlns:a="http://schemas.openxmlformats.org/drawingml/2006/main">
              <a:ext uri="{FF2B5EF4-FFF2-40B4-BE49-F238E27FC236}">
                <a16:creationId xmlns:a16="http://schemas.microsoft.com/office/drawing/2014/main" id="{B6061DC6-4A14-407A-AA3F-DECFA8EC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5%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98095198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B99599-1544-4093-8372-CBACBFBB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第六章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24F12-00AC-4721-8A53-9A16C556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开放 / 开源计划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7CB56E9-379D-4B07-A8C8-F6C62FDF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13840"/>
            <a:ext cx="9534525" cy="507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rPr>
                <a:latin typeface="微软雅黑"/>
                <a:ea typeface="微软雅黑"/>
                <a:cs typeface="微软雅黑"/>
              </a:rPr>
              <a:t>公开可复用工程资产，不发布敏感数据。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t/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rPr>
                <a:latin typeface="微软雅黑"/>
                <a:ea typeface="微软雅黑"/>
                <a:cs typeface="微软雅黑"/>
              </a:rPr>
              <a:t>1. 开放范围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六 Agent 身份、Prompt 与协作 schema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十个 Skill、Registry、API 契约、代码、测试和启动脚本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indent="0" algn="l">
              <a:lnSpc>
                <a:spcPct val="150000"/>
              </a:lnSpc>
              <a:buClrTx/>
              <a:buSzTx/>
              <a:buFont typeface="Arial"/>
              <a:buNone/>
            </a:pPr>
            <a:r>
              <a:t/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rPr>
                <a:latin typeface="微软雅黑"/>
                <a:ea typeface="微软雅黑"/>
                <a:cs typeface="微软雅黑"/>
              </a:rPr>
              <a:t>2. 安全边界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不上传 .env、API Key、原始数据、模型权重和本机日志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t>最终测试集默认隔离，第三方依赖明确声明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indent="0" algn="l">
              <a:lnSpc>
                <a:spcPct val="150000"/>
              </a:lnSpc>
              <a:buClrTx/>
              <a:buSzTx/>
              <a:buFont typeface="Arial"/>
              <a:buNone/>
            </a:pPr>
            <a:r>
              <a:rPr>
                <a:latin typeface="微软雅黑"/>
                <a:ea typeface="微软雅黑"/>
                <a:cs typeface="微软雅黑"/>
              </a:rPr>
              <a:t>3. 复用与许可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提供 README、完整使用流程和脱敏样例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可迁移到轴承、齿轮和其他多通道时序任务</a:t>
            </a:r>
            <a:endParaRPr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834051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56E2B0D-5C3C-4AA7-8B57-02FD1590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16</a:t>
            </a:r>
            <a:endParaRPr sz="1000"/>
          </a:p>
        </p:txBody>
      </p:sp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41DE735D-56CA-4E87-A388-983E59F7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926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第七章 · 当前进展与整体可行性</a:t>
            </a:r>
            <a:endParaRPr sz="12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F7CF2192-0E81-406A-B759-ACB3988E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669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落地进展与证据</a:t>
            </a:r>
            <a:endParaRPr sz="2900"/>
          </a:p>
        </p:txBody>
      </p:sp>
    </p:spTree>
    <p:extLst>
      <p:ext uri="{BB962C8B-B14F-4D97-AF65-F5344CB8AC3E}">
        <p14:creationId xmlns:p14="http://schemas.microsoft.com/office/powerpoint/2010/main" val="58705988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0C036A8-FC6C-4DE4-9575-54991CDE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第七章 · 当前进展与整体可行性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A1390E-B112-4AD5-92F5-50AFABEA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停止决策也有完整证据链</a:t>
            </a:r>
            <a:endParaRPr sz="29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9670D03-D620-4047-B6F4-A0EFE621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1000"/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D9616E8D-A73C-43F4-8A3C-3138B74E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9857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>EvaluationGovernorAgent 识别约 0.06 过拟合差距与 6.8 类别不平衡；P0 目标达成后停止额外训练，归档 28 项 Evidence。</a:t>
            </a:r>
            <a:endParaRPr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5" name="图片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748a3adb274a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9640" y="2328545"/>
            <a:ext cx="4911725" cy="2768600"/>
          </a:xfrm>
          <a:prstGeom xmlns:a="http://schemas.openxmlformats.org/drawingml/2006/main" prst="rect">
            <a:avLst/>
          </a:prstGeom>
        </p:spPr>
      </p:pic>
      <p:pic>
        <p:nvPicPr>
          <p:cNvPr id="46" name="图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e4438637b4d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379210" y="2458720"/>
            <a:ext cx="5327015" cy="24822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22553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5727BC9-23AA-4E71-BB59-36345FBA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1000"/>
          </a:p>
        </p:txBody>
      </p:sp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2C01A154-322E-40E7-AD0E-2776BE51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926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第八章 · </a:t>
            </a:r>
            <a:endParaRPr sz="12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8E3343F3-BEFF-4CF2-9F04-C5B5109F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669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团队与未来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82289987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B99599-1544-4093-8372-CBACBFBB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 spc="100">
                <a:solidFill>
                  <a:srgbClr val="FF6B35"/>
                </a:solidFill>
                <a:latin typeface="微软雅黑"/>
                <a:ea typeface="微软雅黑"/>
                <a:cs typeface="微软雅黑"/>
              </a:rPr>
              <a:t>第八章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24F12-00AC-4721-8A53-9A16C556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B1F3B"/>
                </a:solidFill>
                <a:latin typeface="微软雅黑"/>
                <a:ea typeface="微软雅黑"/>
                <a:cs typeface="微软雅黑"/>
              </a:rPr>
              <a:t>团队与未来</a:t>
            </a:r>
            <a:endParaRPr sz="2900" b="1">
              <a:solidFill>
                <a:srgbClr val="1B1F3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7CB56E9-379D-4B07-A8C8-F6C62FDF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13840"/>
            <a:ext cx="9534525" cy="50774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rPr>
                <a:latin typeface="微软雅黑"/>
                <a:ea typeface="微软雅黑"/>
                <a:cs typeface="微软雅黑"/>
              </a:rPr>
              <a:t>机械研究需求驱动，工程结果以代码、测试和 Evidence 为准。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t/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rPr>
                <a:latin typeface="微软雅黑"/>
                <a:ea typeface="微软雅黑"/>
                <a:cs typeface="微软雅黑"/>
              </a:rPr>
              <a:t>1. 团队背景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机械工程硕士，研究方向：刀具磨损监测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负责领域需求、标签策略、实验解释与现场验证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indent="0" algn="l">
              <a:lnSpc>
                <a:spcPct val="150000"/>
              </a:lnSpc>
              <a:buClrTx/>
              <a:buSzTx/>
              <a:buFont typeface="Arial"/>
              <a:buNone/>
            </a:pPr>
            <a:r>
              <a:t/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>
              <a:lnSpc>
                <a:spcPct val="150000"/>
              </a:lnSpc>
              <a:buClrTx/>
              <a:buSzTx/>
              <a:buFontTx/>
              <a:buNone/>
            </a:pPr>
            <a:r>
              <a:rPr>
                <a:latin typeface="微软雅黑"/>
                <a:ea typeface="微软雅黑"/>
                <a:cs typeface="微软雅黑"/>
              </a:rPr>
              <a:t>2. 下一阶段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P1：C1 / C4 / C6 跨刀具泛化与域适配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t/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indent="0" algn="l">
              <a:lnSpc>
                <a:spcPct val="150000"/>
              </a:lnSpc>
              <a:buClrTx/>
              <a:buSzTx/>
              <a:buFont typeface="Arial"/>
              <a:buNone/>
            </a:pPr>
            <a:r>
              <a:rPr>
                <a:latin typeface="微软雅黑"/>
                <a:ea typeface="微软雅黑"/>
                <a:cs typeface="微软雅黑"/>
              </a:rPr>
              <a:t>3. 产品化路线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P1.5：VB 回归、注意力和多分支融合</a:t>
            </a:r>
            <a:endParaRPr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 algn="l">
              <a:lnSpc>
                <a:spcPct val="150000"/>
              </a:lnSpc>
              <a:buClrTx/>
              <a:buSzTx/>
              <a:buFont typeface="Arial"/>
              <a:buChar char="•"/>
            </a:pPr>
            <a:r>
              <a:rPr>
                <a:latin typeface="微软雅黑"/>
                <a:ea typeface="微软雅黑"/>
                <a:cs typeface="微软雅黑"/>
              </a:rPr>
              <a:t>P2：企业数据接入、RAG、观测、回滚与权限治理</a:t>
            </a:r>
            <a:endParaRPr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88340518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2026-08-16T03:41:12.3330000Z</dcterms:created>
  <dcterms:modified xsi:type="dcterms:W3CDTF">2026-08-16T03:41:12.3330000Z</dcterms:modified>
</coreProperties>
</file>